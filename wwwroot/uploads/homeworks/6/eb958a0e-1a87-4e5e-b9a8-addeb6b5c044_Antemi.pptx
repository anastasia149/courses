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71" r:id="rId4"/>
    <p:sldId id="267" r:id="rId5"/>
    <p:sldId id="269" r:id="rId6"/>
    <p:sldId id="270" r:id="rId7"/>
    <p:sldId id="265" r:id="rId8"/>
  </p:sldIdLst>
  <p:sldSz cx="12192000" cy="6858000"/>
  <p:notesSz cx="6858000" cy="9144000"/>
  <p:embeddedFontLst>
    <p:embeddedFont>
      <p:font typeface="Gilroy-Bold" panose="00000800000000000000" pitchFamily="2" charset="-52"/>
      <p:regular r:id="rId10"/>
    </p:embeddedFont>
    <p:embeddedFont>
      <p:font typeface="Gilroy-Light" panose="00000400000000000000" pitchFamily="2" charset="-52"/>
      <p:regular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52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pos="415" userDrawn="1">
          <p15:clr>
            <a:srgbClr val="A4A3A4"/>
          </p15:clr>
        </p15:guide>
        <p15:guide id="6" pos="72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BAC6"/>
    <a:srgbClr val="ECECEC"/>
    <a:srgbClr val="D2D0D0"/>
    <a:srgbClr val="FFF6E7"/>
    <a:srgbClr val="877670"/>
    <a:srgbClr val="D9C8C5"/>
    <a:srgbClr val="D5CBC5"/>
    <a:srgbClr val="303030"/>
    <a:srgbClr val="C0E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33" y="57"/>
      </p:cViewPr>
      <p:guideLst>
        <p:guide orient="horz" pos="2183"/>
        <p:guide pos="3840"/>
        <p:guide orient="horz" pos="3952"/>
        <p:guide orient="horz" pos="391"/>
        <p:guide pos="415"/>
        <p:guide pos="72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7F188-FEBF-40E8-8C60-6722AED2280D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6B52C-26F4-406A-B08D-20E71F6255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20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6B52C-26F4-406A-B08D-20E71F62556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928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AF9D2-10E6-A2A3-4FE5-8F186169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9D3781-A6BB-29C2-1E0B-178FC595A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193AC7-7729-BF91-F823-94393354E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33322E-83F3-3A7E-FBD8-7AA53757B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6B52C-26F4-406A-B08D-20E71F62556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463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E0CC7-4368-966D-F2B6-F4C56EA9F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113442-3C79-204E-D14D-8BE4B0582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35C5A2-E72F-2437-074B-306D7BAE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5625B6-2834-9557-23A9-B0BF5290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FFA5D5-0030-BAB2-F245-D7E3723D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90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5A3C2-5830-9A8A-B51F-E7004399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CD06DF-54CB-091A-9EC2-C7D9A4CB1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84E1DF-D2A2-1479-8BE3-4C6D956B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2F4A4-3548-38A4-4242-3C96E4D1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CB7C1B-82AC-7707-1746-B5C69CFC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28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773AF-BD0B-097F-1591-639713BD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E6D617-3853-0C2C-4C6A-A210887E4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568B2A-F524-A7A0-DA08-CB672621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3FDDFA-716A-47C0-8E6F-CEB09E63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81BBAA-3A0B-977A-89CF-8694CC30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17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3777C-39E4-ADD7-6CD8-E29948F0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A0A678-555B-C3D9-43D1-95F74523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CA64B3-E358-9D58-58DF-5E9576708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9E706-8E21-E832-4AF8-FD1E89FE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CE63D4-8308-144D-A91C-44960A788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150058-12B3-5EE7-12AF-C0F2154A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36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57BFB6-AAD1-C276-9767-E36C8DD2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2042ED-3D1E-EC51-A5C1-0F787AE05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1C6874-E93D-B0E6-7310-67B892E8C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AD3876-CD91-99C9-05AD-739B3B3C3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1AEAC3-4034-1300-7D0E-A3175ED1E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FA02A4-7585-BA47-4A51-BC730712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90B97E-BE75-A305-48C5-5783C98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5C0591-4094-B248-83A5-3ADA4F9C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04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269CB-0C4D-00E5-E240-D3494542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99C16F-536E-E10D-7822-9A9DAD9B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89B048-B362-305C-1064-A4F6D390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C5B7F-C804-9EA8-4721-E29A3F33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93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CC07EB-FBEC-63CD-27E9-1AD990ED0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14F87D-F11A-0111-126C-3A7DAF23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43FE0D-0988-C369-DDA5-127407D8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30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38F44-7B10-D3A3-32A8-665C4108C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85EC13-704A-EB12-A71C-8A6769ED6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1AA1E2-4E3D-7FD0-B2C8-8DEDB0D25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A2F5ED-510F-132F-CBBF-60EAE536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EF3395-4B7C-481C-8A39-AADE5868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547534-7090-CDEB-8126-E5ABB168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6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2ED98-C110-E077-AE97-7CA314C28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0F7065-0FC7-35C5-959E-218B5FD57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EA77FE-3D91-3B45-0C68-1BC928209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68164F-E7DB-51CF-2861-CF1BFE00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0FF7CB-009F-0967-93E9-D66457C0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A4C6AA-681E-1235-A314-94EC8A68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52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4ABE5-48BB-DEA4-A7B7-2A4E3C7B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2DE00C-1AE6-47CF-2B39-45C3BB945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8170E9-377E-F343-A7CA-61BADE87C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FA7632-B27E-ABE2-13CA-1823FCE7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724CD0-DD62-8D26-7780-5B17A645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35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D9FA131-2F14-16C5-2FC1-A38908ED5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D22578-4D0D-094E-245F-406836232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274C7F-7007-9C57-E7F2-31288986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7519E8-3B6B-3B8F-3FAC-2BBB9AEC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AF2A1-3F31-1D33-E563-9EBDB884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848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78CBF-FD5E-F562-88D3-1484F852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F37D2A-9CBA-ED52-512A-73E8393DF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2A1DEA-57D9-E6FE-0872-18DFD23C9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D6FC9-427B-4F5B-B014-6B82FDB63D68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8E5C8D-D4D5-4B6E-8865-83DB35FE2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790F0E-448C-FED8-CB92-587995C20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73215-E8BF-4CFA-B335-652413C8D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53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svgsilh.com/image/1562139.html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jpeg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microsoft.com/office/2007/relationships/hdphoto" Target="../media/hdphoto1.wdp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svg"/><Relationship Id="rId7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5.sv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2.jpeg"/><Relationship Id="rId4" Type="http://schemas.openxmlformats.org/officeDocument/2006/relationships/image" Target="../media/image13.png"/><Relationship Id="rId9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hyperlink" Target="https://svgsilh.com/image/1562139.html" TargetMode="External"/><Relationship Id="rId5" Type="http://schemas.openxmlformats.org/officeDocument/2006/relationships/image" Target="../media/image3.jpeg"/><Relationship Id="rId10" Type="http://schemas.openxmlformats.org/officeDocument/2006/relationships/image" Target="../media/image9.svg"/><Relationship Id="rId4" Type="http://schemas.openxmlformats.org/officeDocument/2006/relationships/image" Target="../media/image2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hidden="1">
            <a:extLst>
              <a:ext uri="{FF2B5EF4-FFF2-40B4-BE49-F238E27FC236}">
                <a16:creationId xmlns:a16="http://schemas.microsoft.com/office/drawing/2014/main" id="{546F017B-7C29-6D56-6DC1-BDF94929A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1" t="7713" r="31301" b="2286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8" name="Рисунок 7" hidden="1">
            <a:extLst>
              <a:ext uri="{FF2B5EF4-FFF2-40B4-BE49-F238E27FC236}">
                <a16:creationId xmlns:a16="http://schemas.microsoft.com/office/drawing/2014/main" id="{B972B402-78B0-DA8D-91F3-E2E89A01C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7" t="60600" r="51731" b="22775"/>
          <a:stretch/>
        </p:blipFill>
        <p:spPr>
          <a:xfrm>
            <a:off x="658813" y="1344812"/>
            <a:ext cx="5371808" cy="1584506"/>
          </a:xfrm>
          <a:custGeom>
            <a:avLst/>
            <a:gdLst/>
            <a:ahLst/>
            <a:cxnLst/>
            <a:rect l="l" t="t" r="r" b="b"/>
            <a:pathLst>
              <a:path w="3865321" h="1140142">
                <a:moveTo>
                  <a:pt x="540677" y="258975"/>
                </a:moveTo>
                <a:lnTo>
                  <a:pt x="384315" y="724804"/>
                </a:lnTo>
                <a:lnTo>
                  <a:pt x="705209" y="724804"/>
                </a:lnTo>
                <a:close/>
                <a:moveTo>
                  <a:pt x="3160061" y="0"/>
                </a:moveTo>
                <a:lnTo>
                  <a:pt x="3857177" y="0"/>
                </a:lnTo>
                <a:lnTo>
                  <a:pt x="3857177" y="214998"/>
                </a:lnTo>
                <a:lnTo>
                  <a:pt x="3384832" y="214998"/>
                </a:lnTo>
                <a:lnTo>
                  <a:pt x="3384832" y="457685"/>
                </a:lnTo>
                <a:lnTo>
                  <a:pt x="3816458" y="457685"/>
                </a:lnTo>
                <a:lnTo>
                  <a:pt x="3816458" y="669426"/>
                </a:lnTo>
                <a:lnTo>
                  <a:pt x="3384832" y="669426"/>
                </a:lnTo>
                <a:lnTo>
                  <a:pt x="3384832" y="925144"/>
                </a:lnTo>
                <a:lnTo>
                  <a:pt x="3865321" y="925144"/>
                </a:lnTo>
                <a:lnTo>
                  <a:pt x="3865321" y="1140142"/>
                </a:lnTo>
                <a:lnTo>
                  <a:pt x="3160061" y="1140142"/>
                </a:lnTo>
                <a:close/>
                <a:moveTo>
                  <a:pt x="2199065" y="0"/>
                </a:moveTo>
                <a:lnTo>
                  <a:pt x="3037884" y="0"/>
                </a:lnTo>
                <a:lnTo>
                  <a:pt x="3037884" y="214998"/>
                </a:lnTo>
                <a:lnTo>
                  <a:pt x="2730046" y="214998"/>
                </a:lnTo>
                <a:lnTo>
                  <a:pt x="2730046" y="1140142"/>
                </a:lnTo>
                <a:lnTo>
                  <a:pt x="2505275" y="1140142"/>
                </a:lnTo>
                <a:lnTo>
                  <a:pt x="2505275" y="214998"/>
                </a:lnTo>
                <a:lnTo>
                  <a:pt x="2199065" y="214998"/>
                </a:lnTo>
                <a:close/>
                <a:moveTo>
                  <a:pt x="1188387" y="0"/>
                </a:moveTo>
                <a:lnTo>
                  <a:pt x="1359230" y="0"/>
                </a:lnTo>
                <a:lnTo>
                  <a:pt x="1848040" y="694545"/>
                </a:lnTo>
                <a:lnTo>
                  <a:pt x="1848040" y="0"/>
                </a:lnTo>
                <a:lnTo>
                  <a:pt x="2072811" y="0"/>
                </a:lnTo>
                <a:lnTo>
                  <a:pt x="2072811" y="1140142"/>
                </a:lnTo>
                <a:lnTo>
                  <a:pt x="1901790" y="1140142"/>
                </a:lnTo>
                <a:lnTo>
                  <a:pt x="1413158" y="443026"/>
                </a:lnTo>
                <a:lnTo>
                  <a:pt x="1413158" y="1140142"/>
                </a:lnTo>
                <a:lnTo>
                  <a:pt x="1188387" y="1140142"/>
                </a:lnTo>
                <a:close/>
                <a:moveTo>
                  <a:pt x="399050" y="0"/>
                </a:moveTo>
                <a:lnTo>
                  <a:pt x="677571" y="0"/>
                </a:lnTo>
                <a:lnTo>
                  <a:pt x="1079802" y="1140142"/>
                </a:lnTo>
                <a:lnTo>
                  <a:pt x="851926" y="1140142"/>
                </a:lnTo>
                <a:lnTo>
                  <a:pt x="779445" y="934916"/>
                </a:lnTo>
                <a:lnTo>
                  <a:pt x="311096" y="934916"/>
                </a:lnTo>
                <a:lnTo>
                  <a:pt x="242688" y="1140142"/>
                </a:lnTo>
                <a:lnTo>
                  <a:pt x="0" y="1140142"/>
                </a:lnTo>
                <a:close/>
              </a:path>
            </a:pathLst>
          </a:custGeom>
        </p:spPr>
      </p:pic>
      <p:pic>
        <p:nvPicPr>
          <p:cNvPr id="1028" name="Picture 4" descr="Детский матраc Antemi Terra 100х70х12 см - купить в Москве" hidden="1">
            <a:extLst>
              <a:ext uri="{FF2B5EF4-FFF2-40B4-BE49-F238E27FC236}">
                <a16:creationId xmlns:a16="http://schemas.microsoft.com/office/drawing/2014/main" id="{6863D86A-DB4C-1AAA-CA9F-7356C4BE67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2682" r="9522" b="9904"/>
          <a:stretch/>
        </p:blipFill>
        <p:spPr bwMode="auto">
          <a:xfrm>
            <a:off x="6096000" y="-1"/>
            <a:ext cx="6096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C476B765-81C8-0D65-473A-6A649E470F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" t="30142" r="56073" b="20440"/>
          <a:stretch/>
        </p:blipFill>
        <p:spPr bwMode="auto">
          <a:xfrm>
            <a:off x="6094398" y="-1"/>
            <a:ext cx="6097602" cy="6858001"/>
          </a:xfrm>
          <a:custGeom>
            <a:avLst/>
            <a:gdLst>
              <a:gd name="connsiteX0" fmla="*/ 0 w 6097602"/>
              <a:gd name="connsiteY0" fmla="*/ 0 h 7108441"/>
              <a:gd name="connsiteX1" fmla="*/ 6096000 w 6097602"/>
              <a:gd name="connsiteY1" fmla="*/ 0 h 7108441"/>
              <a:gd name="connsiteX2" fmla="*/ 6096000 w 6097602"/>
              <a:gd name="connsiteY2" fmla="*/ 88708 h 7108441"/>
              <a:gd name="connsiteX3" fmla="*/ 6097602 w 6097602"/>
              <a:gd name="connsiteY3" fmla="*/ 88708 h 7108441"/>
              <a:gd name="connsiteX4" fmla="*/ 6097602 w 6097602"/>
              <a:gd name="connsiteY4" fmla="*/ 6946708 h 7108441"/>
              <a:gd name="connsiteX5" fmla="*/ 6096000 w 6097602"/>
              <a:gd name="connsiteY5" fmla="*/ 6946708 h 7108441"/>
              <a:gd name="connsiteX6" fmla="*/ 6096000 w 6097602"/>
              <a:gd name="connsiteY6" fmla="*/ 7108441 h 7108441"/>
              <a:gd name="connsiteX7" fmla="*/ 0 w 6097602"/>
              <a:gd name="connsiteY7" fmla="*/ 7108441 h 7108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7602" h="7108441">
                <a:moveTo>
                  <a:pt x="0" y="0"/>
                </a:moveTo>
                <a:lnTo>
                  <a:pt x="6096000" y="0"/>
                </a:lnTo>
                <a:lnTo>
                  <a:pt x="6096000" y="88708"/>
                </a:lnTo>
                <a:lnTo>
                  <a:pt x="6097602" y="88708"/>
                </a:lnTo>
                <a:lnTo>
                  <a:pt x="6097602" y="6946708"/>
                </a:lnTo>
                <a:lnTo>
                  <a:pt x="6096000" y="6946708"/>
                </a:lnTo>
                <a:lnTo>
                  <a:pt x="6096000" y="7108441"/>
                </a:lnTo>
                <a:lnTo>
                  <a:pt x="0" y="71084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677D9BC-2BB2-CDB8-B5F5-25DD26E5467B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6912C-6638-50BA-7DD2-F0232CD0F477}"/>
              </a:ext>
            </a:extLst>
          </p:cNvPr>
          <p:cNvSpPr txBox="1"/>
          <p:nvPr/>
        </p:nvSpPr>
        <p:spPr>
          <a:xfrm>
            <a:off x="5856093" y="690515"/>
            <a:ext cx="284171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100" dirty="0">
                <a:solidFill>
                  <a:schemeClr val="bg1"/>
                </a:solidFill>
                <a:latin typeface="Gilroy-Bold" panose="00000800000000000000" pitchFamily="2" charset="-52"/>
              </a:rPr>
              <a:t>MI</a:t>
            </a:r>
            <a:endParaRPr lang="ru-RU" sz="18100" dirty="0">
              <a:solidFill>
                <a:schemeClr val="bg1"/>
              </a:solidFill>
              <a:latin typeface="Gilroy-Bold" panose="00000800000000000000" pitchFamily="2" charset="-52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09C05D-6730-9854-6BB6-D804C1EE62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48687" y="337685"/>
            <a:ext cx="1184501" cy="3528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3A9516-B73C-D0A5-C820-34AEA437E7BC}"/>
              </a:ext>
            </a:extLst>
          </p:cNvPr>
          <p:cNvSpPr txBox="1"/>
          <p:nvPr/>
        </p:nvSpPr>
        <p:spPr>
          <a:xfrm>
            <a:off x="587828" y="430317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Чехол </a:t>
            </a:r>
            <a:r>
              <a:rPr lang="en-US" sz="1000" dirty="0">
                <a:latin typeface="Gilroy-Light" panose="00000400000000000000" pitchFamily="2" charset="-52"/>
              </a:rPr>
              <a:t>Aloe Vera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CE507-7112-3B23-7BD6-7BCFCB3BAA2D}"/>
              </a:ext>
            </a:extLst>
          </p:cNvPr>
          <p:cNvSpPr txBox="1"/>
          <p:nvPr/>
        </p:nvSpPr>
        <p:spPr>
          <a:xfrm>
            <a:off x="1877338" y="43031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Soft foam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5B8807-34B3-F7B9-EFE0-0BBDFE86A7AB}"/>
              </a:ext>
            </a:extLst>
          </p:cNvPr>
          <p:cNvSpPr txBox="1"/>
          <p:nvPr/>
        </p:nvSpPr>
        <p:spPr>
          <a:xfrm>
            <a:off x="2778921" y="430317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Orto foam 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A270E1-58DC-ADCE-B179-30F36821E2EF}"/>
              </a:ext>
            </a:extLst>
          </p:cNvPr>
          <p:cNvSpPr txBox="1"/>
          <p:nvPr/>
        </p:nvSpPr>
        <p:spPr>
          <a:xfrm>
            <a:off x="3744624" y="430317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Натуральный кокос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C61C1-0459-42E4-C96D-BD733CFAF355}"/>
              </a:ext>
            </a:extLst>
          </p:cNvPr>
          <p:cNvSpPr txBox="1"/>
          <p:nvPr/>
        </p:nvSpPr>
        <p:spPr>
          <a:xfrm>
            <a:off x="5268172" y="43031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roy-Light" panose="00000400000000000000" pitchFamily="2" charset="-52"/>
              </a:rPr>
              <a:t>Airotek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3FFB83-74F1-4B84-26A6-CC15BBB2A597}"/>
              </a:ext>
            </a:extLst>
          </p:cNvPr>
          <p:cNvSpPr txBox="1"/>
          <p:nvPr/>
        </p:nvSpPr>
        <p:spPr>
          <a:xfrm>
            <a:off x="555134" y="3310599"/>
            <a:ext cx="55791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ilroy-Light" panose="00000400000000000000" pitchFamily="2" charset="-52"/>
              </a:rPr>
              <a:t>Antemi </a:t>
            </a:r>
            <a:r>
              <a:rPr lang="en-US" sz="3200" i="0" dirty="0">
                <a:solidFill>
                  <a:srgbClr val="333333"/>
                </a:solidFill>
                <a:effectLst/>
                <a:latin typeface="Gilroy-Light" panose="00000400000000000000" pitchFamily="2" charset="-52"/>
              </a:rPr>
              <a:t>Terra Light</a:t>
            </a:r>
          </a:p>
          <a:p>
            <a:r>
              <a:rPr lang="en-US" sz="3200" dirty="0">
                <a:latin typeface="Gilroy-Light" panose="00000400000000000000" pitchFamily="2" charset="-52"/>
              </a:rPr>
              <a:t>160</a:t>
            </a:r>
            <a:r>
              <a:rPr lang="ru-RU" sz="3200" dirty="0">
                <a:latin typeface="Gilroy-Light" panose="00000400000000000000" pitchFamily="2" charset="-52"/>
              </a:rPr>
              <a:t>х70</a:t>
            </a:r>
            <a:r>
              <a:rPr lang="en-US" sz="3200" dirty="0">
                <a:latin typeface="Gilroy-Light" panose="00000400000000000000" pitchFamily="2" charset="-52"/>
              </a:rPr>
              <a:t>x13</a:t>
            </a:r>
            <a:r>
              <a:rPr lang="ru-RU" sz="3200" dirty="0">
                <a:latin typeface="Gilroy-Light" panose="00000400000000000000" pitchFamily="2" charset="-52"/>
              </a:rPr>
              <a:t>см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BD6928-4D19-DED2-4C75-C5A94BE9D5E3}"/>
              </a:ext>
            </a:extLst>
          </p:cNvPr>
          <p:cNvSpPr txBox="1"/>
          <p:nvPr/>
        </p:nvSpPr>
        <p:spPr>
          <a:xfrm>
            <a:off x="658813" y="4909578"/>
            <a:ext cx="1534422" cy="426482"/>
          </a:xfrm>
          <a:prstGeom prst="roundRect">
            <a:avLst>
              <a:gd name="adj" fmla="val 23925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Gilroy-Light" panose="00000400000000000000" pitchFamily="2" charset="-52"/>
              </a:rPr>
              <a:t>Подробнее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A856EB3-F673-C515-665F-581A455CE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41" t="41920" r="57283" b="47450"/>
          <a:stretch/>
        </p:blipFill>
        <p:spPr bwMode="auto">
          <a:xfrm>
            <a:off x="660417" y="1354206"/>
            <a:ext cx="5371806" cy="1582855"/>
          </a:xfrm>
          <a:custGeom>
            <a:avLst/>
            <a:gdLst/>
            <a:ahLst/>
            <a:cxnLst/>
            <a:rect l="l" t="t" r="r" b="b"/>
            <a:pathLst>
              <a:path w="5453298" h="1606867">
                <a:moveTo>
                  <a:pt x="762007" y="364988"/>
                </a:moveTo>
                <a:lnTo>
                  <a:pt x="541636" y="1021508"/>
                </a:lnTo>
                <a:lnTo>
                  <a:pt x="993891" y="1021508"/>
                </a:lnTo>
                <a:close/>
                <a:moveTo>
                  <a:pt x="4459336" y="0"/>
                </a:moveTo>
                <a:lnTo>
                  <a:pt x="5441820" y="0"/>
                </a:lnTo>
                <a:lnTo>
                  <a:pt x="5441820" y="303009"/>
                </a:lnTo>
                <a:lnTo>
                  <a:pt x="4776118" y="303009"/>
                </a:lnTo>
                <a:lnTo>
                  <a:pt x="4776118" y="645042"/>
                </a:lnTo>
                <a:lnTo>
                  <a:pt x="5384431" y="645042"/>
                </a:lnTo>
                <a:lnTo>
                  <a:pt x="5384431" y="943460"/>
                </a:lnTo>
                <a:lnTo>
                  <a:pt x="4776118" y="943460"/>
                </a:lnTo>
                <a:lnTo>
                  <a:pt x="4776118" y="1303858"/>
                </a:lnTo>
                <a:lnTo>
                  <a:pt x="5453298" y="1303858"/>
                </a:lnTo>
                <a:lnTo>
                  <a:pt x="5453298" y="1606867"/>
                </a:lnTo>
                <a:lnTo>
                  <a:pt x="4459336" y="1606867"/>
                </a:lnTo>
                <a:close/>
                <a:moveTo>
                  <a:pt x="3101718" y="0"/>
                </a:moveTo>
                <a:lnTo>
                  <a:pt x="4283914" y="0"/>
                </a:lnTo>
                <a:lnTo>
                  <a:pt x="4283914" y="303009"/>
                </a:lnTo>
                <a:lnTo>
                  <a:pt x="3850059" y="303009"/>
                </a:lnTo>
                <a:lnTo>
                  <a:pt x="3850059" y="1606867"/>
                </a:lnTo>
                <a:lnTo>
                  <a:pt x="3533277" y="1606867"/>
                </a:lnTo>
                <a:lnTo>
                  <a:pt x="3533277" y="303009"/>
                </a:lnTo>
                <a:lnTo>
                  <a:pt x="3101718" y="303009"/>
                </a:lnTo>
                <a:close/>
                <a:moveTo>
                  <a:pt x="1678035" y="0"/>
                </a:moveTo>
                <a:lnTo>
                  <a:pt x="1918815" y="0"/>
                </a:lnTo>
                <a:lnTo>
                  <a:pt x="2607723" y="978862"/>
                </a:lnTo>
                <a:lnTo>
                  <a:pt x="2607723" y="0"/>
                </a:lnTo>
                <a:lnTo>
                  <a:pt x="2924506" y="0"/>
                </a:lnTo>
                <a:lnTo>
                  <a:pt x="2924506" y="1606867"/>
                </a:lnTo>
                <a:lnTo>
                  <a:pt x="2683475" y="1606867"/>
                </a:lnTo>
                <a:lnTo>
                  <a:pt x="1994818" y="624382"/>
                </a:lnTo>
                <a:lnTo>
                  <a:pt x="1994818" y="1606867"/>
                </a:lnTo>
                <a:lnTo>
                  <a:pt x="1678035" y="1606867"/>
                </a:lnTo>
                <a:close/>
                <a:moveTo>
                  <a:pt x="562404" y="0"/>
                </a:moveTo>
                <a:lnTo>
                  <a:pt x="954938" y="0"/>
                </a:lnTo>
                <a:lnTo>
                  <a:pt x="1521825" y="1606867"/>
                </a:lnTo>
                <a:lnTo>
                  <a:pt x="1200667" y="1606867"/>
                </a:lnTo>
                <a:lnTo>
                  <a:pt x="1098516" y="1317631"/>
                </a:lnTo>
                <a:lnTo>
                  <a:pt x="438445" y="1317631"/>
                </a:lnTo>
                <a:lnTo>
                  <a:pt x="342033" y="1606867"/>
                </a:lnTo>
                <a:lnTo>
                  <a:pt x="0" y="160686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343C589E-3DF3-C43F-86DF-4477950DB6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202" y="6065700"/>
            <a:ext cx="257005" cy="253618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08BE7DF4-A743-7F7D-65AF-E34D1D6792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4918603" y="6103588"/>
            <a:ext cx="177843" cy="177843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54E48DAF-1E8C-6163-55E7-9115297B6C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18" y="6065700"/>
            <a:ext cx="257007" cy="257007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97994340-71C2-3A57-A2C2-A90DC9A2D1D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24" y="6105030"/>
            <a:ext cx="176400" cy="1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5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4C1D363-F505-E035-E68D-B04E03580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" t="1784" r="18669" b="16766"/>
          <a:stretch/>
        </p:blipFill>
        <p:spPr bwMode="auto">
          <a:xfrm>
            <a:off x="5879050" y="1302755"/>
            <a:ext cx="4358247" cy="4358247"/>
          </a:xfrm>
          <a:custGeom>
            <a:avLst/>
            <a:gdLst>
              <a:gd name="connsiteX0" fmla="*/ 1764734 w 3529468"/>
              <a:gd name="connsiteY0" fmla="*/ 0 h 3529468"/>
              <a:gd name="connsiteX1" fmla="*/ 3529468 w 3529468"/>
              <a:gd name="connsiteY1" fmla="*/ 1764734 h 3529468"/>
              <a:gd name="connsiteX2" fmla="*/ 1764734 w 3529468"/>
              <a:gd name="connsiteY2" fmla="*/ 3529468 h 3529468"/>
              <a:gd name="connsiteX3" fmla="*/ 0 w 3529468"/>
              <a:gd name="connsiteY3" fmla="*/ 1764734 h 3529468"/>
              <a:gd name="connsiteX4" fmla="*/ 1764734 w 3529468"/>
              <a:gd name="connsiteY4" fmla="*/ 0 h 352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9468" h="3529468">
                <a:moveTo>
                  <a:pt x="1764734" y="0"/>
                </a:moveTo>
                <a:cubicBezTo>
                  <a:pt x="2739370" y="0"/>
                  <a:pt x="3529468" y="790098"/>
                  <a:pt x="3529468" y="1764734"/>
                </a:cubicBezTo>
                <a:cubicBezTo>
                  <a:pt x="3529468" y="2739370"/>
                  <a:pt x="2739370" y="3529468"/>
                  <a:pt x="1764734" y="3529468"/>
                </a:cubicBezTo>
                <a:cubicBezTo>
                  <a:pt x="790098" y="3529468"/>
                  <a:pt x="0" y="2739370"/>
                  <a:pt x="0" y="1764734"/>
                </a:cubicBezTo>
                <a:cubicBezTo>
                  <a:pt x="0" y="790098"/>
                  <a:pt x="790098" y="0"/>
                  <a:pt x="17647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66DEC3A-37B1-F3F6-E05E-4AC5FDB85AE0}"/>
              </a:ext>
            </a:extLst>
          </p:cNvPr>
          <p:cNvSpPr txBox="1"/>
          <p:nvPr/>
        </p:nvSpPr>
        <p:spPr>
          <a:xfrm>
            <a:off x="566876" y="2463973"/>
            <a:ext cx="4756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Gilroy-Bold" panose="00000800000000000000" pitchFamily="2" charset="-52"/>
              </a:rPr>
              <a:t>ЧЕХОЛ </a:t>
            </a:r>
            <a:r>
              <a:rPr lang="en-US" sz="4000" dirty="0">
                <a:latin typeface="Gilroy-Bold" panose="00000800000000000000" pitchFamily="2" charset="-52"/>
              </a:rPr>
              <a:t>ALOE VERA</a:t>
            </a:r>
            <a:endParaRPr lang="ru-RU" sz="4000" dirty="0">
              <a:latin typeface="Gilroy-Bold" panose="00000800000000000000" pitchFamily="2" charset="-5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203194-C1B0-4523-C1D6-8F43F01D3AD9}"/>
              </a:ext>
            </a:extLst>
          </p:cNvPr>
          <p:cNvSpPr txBox="1"/>
          <p:nvPr/>
        </p:nvSpPr>
        <p:spPr>
          <a:xfrm>
            <a:off x="577389" y="3159400"/>
            <a:ext cx="49986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200">
                <a:latin typeface="Gilroy-Light" panose="00000400000000000000" pitchFamily="2" charset="-52"/>
              </a:defRPr>
            </a:lvl1pPr>
          </a:lstStyle>
          <a:p>
            <a:r>
              <a:rPr lang="ru-RU" sz="1800" dirty="0"/>
              <a:t>Стеганый чехол </a:t>
            </a:r>
            <a:r>
              <a:rPr lang="ru-RU" sz="1800" dirty="0" err="1"/>
              <a:t>Aloe</a:t>
            </a:r>
            <a:r>
              <a:rPr lang="ru-RU" sz="1800" dirty="0"/>
              <a:t> </a:t>
            </a:r>
            <a:r>
              <a:rPr lang="ru-RU" sz="1800" dirty="0" err="1"/>
              <a:t>Vera</a:t>
            </a:r>
            <a:r>
              <a:rPr lang="ru-RU" sz="1800" dirty="0"/>
              <a:t> – съемный, </a:t>
            </a:r>
          </a:p>
          <a:p>
            <a:r>
              <a:rPr lang="ru-RU" sz="1800" dirty="0"/>
              <a:t>c дышащей 3D сеткой, на молнии: легко снимать, легко стирать.</a:t>
            </a:r>
          </a:p>
          <a:p>
            <a:endParaRPr lang="en-US" sz="1800" dirty="0"/>
          </a:p>
          <a:p>
            <a:r>
              <a:rPr lang="ru-RU" sz="1800" dirty="0"/>
              <a:t>Чехол выдерживает множество деликатных стирок, оставаясь без катышков.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1E1988-A87C-52E4-735B-9A1459240B90}"/>
              </a:ext>
            </a:extLst>
          </p:cNvPr>
          <p:cNvSpPr txBox="1"/>
          <p:nvPr/>
        </p:nvSpPr>
        <p:spPr>
          <a:xfrm>
            <a:off x="680913" y="1769113"/>
            <a:ext cx="1953839" cy="370284"/>
          </a:xfrm>
          <a:prstGeom prst="roundRect">
            <a:avLst>
              <a:gd name="adj" fmla="val 29495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en-US" sz="1400" dirty="0"/>
              <a:t>Antemi Terra Light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2AB26D4-A137-DD20-4E30-2A26C96E1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8687" y="337685"/>
            <a:ext cx="1184501" cy="35283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1AAC246-7A29-0F65-1E64-525F9EE7B6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59" t="11473" r="11684" b="3348"/>
          <a:stretch/>
        </p:blipFill>
        <p:spPr>
          <a:xfrm>
            <a:off x="9533939" y="98683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BBA42821-D99C-2F9D-BD65-B2043CD1F4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60" t="15205" r="30598" b="239"/>
          <a:stretch/>
        </p:blipFill>
        <p:spPr>
          <a:xfrm>
            <a:off x="10349144" y="2144713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pic>
        <p:nvPicPr>
          <p:cNvPr id="41" name="Рисунок 40" descr="Жесткие наполнители для матрасов. Кокосовая койра для матраса">
            <a:extLst>
              <a:ext uri="{FF2B5EF4-FFF2-40B4-BE49-F238E27FC236}">
                <a16:creationId xmlns:a16="http://schemas.microsoft.com/office/drawing/2014/main" id="{8583DE51-9232-57A4-D5A8-132B201E00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2" t="18143" r="18297" b="24856"/>
          <a:stretch/>
        </p:blipFill>
        <p:spPr bwMode="auto">
          <a:xfrm>
            <a:off x="10349144" y="3654769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3E8A48DD-CDE5-484E-80FD-B42945E7A59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1848" t="3433" r="-723" b="37238"/>
          <a:stretch/>
        </p:blipFill>
        <p:spPr>
          <a:xfrm>
            <a:off x="9533939" y="479969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98AD73-00D7-73D0-5939-4BF3530F35B1}"/>
              </a:ext>
            </a:extLst>
          </p:cNvPr>
          <p:cNvSpPr txBox="1"/>
          <p:nvPr/>
        </p:nvSpPr>
        <p:spPr>
          <a:xfrm>
            <a:off x="587828" y="430317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Чехол </a:t>
            </a:r>
            <a:r>
              <a:rPr lang="en-US" sz="1000" dirty="0">
                <a:latin typeface="Gilroy-Light" panose="00000400000000000000" pitchFamily="2" charset="-52"/>
              </a:rPr>
              <a:t>Aloe Vera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1DCB6-170A-EB53-D379-5DA94FB4D5CC}"/>
              </a:ext>
            </a:extLst>
          </p:cNvPr>
          <p:cNvSpPr txBox="1"/>
          <p:nvPr/>
        </p:nvSpPr>
        <p:spPr>
          <a:xfrm>
            <a:off x="1877338" y="43031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Soft foam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ADE2A-72CD-9AE8-4E1F-8E057ADBA6F0}"/>
              </a:ext>
            </a:extLst>
          </p:cNvPr>
          <p:cNvSpPr txBox="1"/>
          <p:nvPr/>
        </p:nvSpPr>
        <p:spPr>
          <a:xfrm>
            <a:off x="2778921" y="430317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Orto foam 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3B36A-CBA5-908E-3348-BC8E2C0D1C39}"/>
              </a:ext>
            </a:extLst>
          </p:cNvPr>
          <p:cNvSpPr txBox="1"/>
          <p:nvPr/>
        </p:nvSpPr>
        <p:spPr>
          <a:xfrm>
            <a:off x="3744624" y="430317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Натуральный кокос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50FE93-6B73-FA50-E2E8-9547C06F96E7}"/>
              </a:ext>
            </a:extLst>
          </p:cNvPr>
          <p:cNvSpPr txBox="1"/>
          <p:nvPr/>
        </p:nvSpPr>
        <p:spPr>
          <a:xfrm>
            <a:off x="5268172" y="43031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roy-Light" panose="00000400000000000000" pitchFamily="2" charset="-52"/>
              </a:rPr>
              <a:t>Airotek</a:t>
            </a:r>
            <a:endParaRPr lang="ru-RU" sz="1000" dirty="0">
              <a:latin typeface="Gilroy-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45333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3FF5-1E0A-B230-E1B5-BA1EC697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C1836F-1BDD-49F4-0A1A-66FBC4552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" t="1784" r="18669" b="16766"/>
          <a:stretch/>
        </p:blipFill>
        <p:spPr bwMode="auto">
          <a:xfrm>
            <a:off x="9670439" y="971840"/>
            <a:ext cx="1122861" cy="1122861"/>
          </a:xfrm>
          <a:custGeom>
            <a:avLst/>
            <a:gdLst>
              <a:gd name="connsiteX0" fmla="*/ 1764734 w 3529468"/>
              <a:gd name="connsiteY0" fmla="*/ 0 h 3529468"/>
              <a:gd name="connsiteX1" fmla="*/ 3529468 w 3529468"/>
              <a:gd name="connsiteY1" fmla="*/ 1764734 h 3529468"/>
              <a:gd name="connsiteX2" fmla="*/ 1764734 w 3529468"/>
              <a:gd name="connsiteY2" fmla="*/ 3529468 h 3529468"/>
              <a:gd name="connsiteX3" fmla="*/ 0 w 3529468"/>
              <a:gd name="connsiteY3" fmla="*/ 1764734 h 3529468"/>
              <a:gd name="connsiteX4" fmla="*/ 1764734 w 3529468"/>
              <a:gd name="connsiteY4" fmla="*/ 0 h 352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9468" h="3529468">
                <a:moveTo>
                  <a:pt x="1764734" y="0"/>
                </a:moveTo>
                <a:cubicBezTo>
                  <a:pt x="2739370" y="0"/>
                  <a:pt x="3529468" y="790098"/>
                  <a:pt x="3529468" y="1764734"/>
                </a:cubicBezTo>
                <a:cubicBezTo>
                  <a:pt x="3529468" y="2739370"/>
                  <a:pt x="2739370" y="3529468"/>
                  <a:pt x="1764734" y="3529468"/>
                </a:cubicBezTo>
                <a:cubicBezTo>
                  <a:pt x="790098" y="3529468"/>
                  <a:pt x="0" y="2739370"/>
                  <a:pt x="0" y="1764734"/>
                </a:cubicBezTo>
                <a:cubicBezTo>
                  <a:pt x="0" y="790098"/>
                  <a:pt x="790098" y="0"/>
                  <a:pt x="17647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5157FED-52AA-CA2C-4E9F-EEBE000BF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8687" y="337685"/>
            <a:ext cx="1184501" cy="35283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178AA026-F97D-50D3-8574-30C2DFA5EE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59" t="11473" r="11684" b="3348"/>
          <a:stretch/>
        </p:blipFill>
        <p:spPr>
          <a:xfrm>
            <a:off x="5879049" y="1302755"/>
            <a:ext cx="4358247" cy="4358247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BD89C01-97E0-A739-5851-72A5939200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60" t="15205" r="30598" b="239"/>
          <a:stretch/>
        </p:blipFill>
        <p:spPr>
          <a:xfrm>
            <a:off x="10349144" y="2144713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pic>
        <p:nvPicPr>
          <p:cNvPr id="41" name="Рисунок 40" descr="Жесткие наполнители для матрасов. Кокосовая койра для матраса">
            <a:extLst>
              <a:ext uri="{FF2B5EF4-FFF2-40B4-BE49-F238E27FC236}">
                <a16:creationId xmlns:a16="http://schemas.microsoft.com/office/drawing/2014/main" id="{350E8296-3EB7-C7DC-55F7-2BB35FC77A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2" t="18143" r="18297" b="24856"/>
          <a:stretch/>
        </p:blipFill>
        <p:spPr bwMode="auto">
          <a:xfrm>
            <a:off x="10349144" y="3654769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CD46EFCD-79F1-AB6A-F3A1-862A883BB2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1848" t="3433" r="-723" b="37238"/>
          <a:stretch/>
        </p:blipFill>
        <p:spPr>
          <a:xfrm>
            <a:off x="9533939" y="479969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B9B771-49B4-0E74-A6DC-903C31702488}"/>
              </a:ext>
            </a:extLst>
          </p:cNvPr>
          <p:cNvSpPr txBox="1"/>
          <p:nvPr/>
        </p:nvSpPr>
        <p:spPr>
          <a:xfrm>
            <a:off x="587828" y="430317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Чехол </a:t>
            </a:r>
            <a:r>
              <a:rPr lang="en-US" sz="1000" dirty="0">
                <a:latin typeface="Gilroy-Light" panose="00000400000000000000" pitchFamily="2" charset="-52"/>
              </a:rPr>
              <a:t>Aloe Vera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3CF75-31A6-B147-5E88-9A77DB81BBF1}"/>
              </a:ext>
            </a:extLst>
          </p:cNvPr>
          <p:cNvSpPr txBox="1"/>
          <p:nvPr/>
        </p:nvSpPr>
        <p:spPr>
          <a:xfrm>
            <a:off x="1877338" y="43031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Soft foam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960B4-1722-D15E-23D6-7C33B550E548}"/>
              </a:ext>
            </a:extLst>
          </p:cNvPr>
          <p:cNvSpPr txBox="1"/>
          <p:nvPr/>
        </p:nvSpPr>
        <p:spPr>
          <a:xfrm>
            <a:off x="2778921" y="430317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Orto foam 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7DFDC-BE52-00C5-560B-CC419BDB27C8}"/>
              </a:ext>
            </a:extLst>
          </p:cNvPr>
          <p:cNvSpPr txBox="1"/>
          <p:nvPr/>
        </p:nvSpPr>
        <p:spPr>
          <a:xfrm>
            <a:off x="3744624" y="430317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Натуральный кокос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F7534-A144-9669-6219-ED154A2008AA}"/>
              </a:ext>
            </a:extLst>
          </p:cNvPr>
          <p:cNvSpPr txBox="1"/>
          <p:nvPr/>
        </p:nvSpPr>
        <p:spPr>
          <a:xfrm>
            <a:off x="5268172" y="43031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roy-Light" panose="00000400000000000000" pitchFamily="2" charset="-52"/>
              </a:rPr>
              <a:t>Airotek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494B8-F636-58C1-630B-D1A49155953B}"/>
              </a:ext>
            </a:extLst>
          </p:cNvPr>
          <p:cNvSpPr txBox="1"/>
          <p:nvPr/>
        </p:nvSpPr>
        <p:spPr>
          <a:xfrm>
            <a:off x="566876" y="2463973"/>
            <a:ext cx="4756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ilroy-Bold" panose="00000800000000000000" pitchFamily="2" charset="-52"/>
              </a:rPr>
              <a:t>SOFT FOAM</a:t>
            </a:r>
            <a:endParaRPr lang="ru-RU" sz="4000" dirty="0">
              <a:latin typeface="Gilroy-Bold" panose="000008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315DD-23CC-0E59-9C4D-C228129CB734}"/>
              </a:ext>
            </a:extLst>
          </p:cNvPr>
          <p:cNvSpPr txBox="1"/>
          <p:nvPr/>
        </p:nvSpPr>
        <p:spPr>
          <a:xfrm>
            <a:off x="577389" y="3171048"/>
            <a:ext cx="49986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200">
                <a:latin typeface="Gilroy-Light" panose="00000400000000000000" pitchFamily="2" charset="-52"/>
              </a:defRPr>
            </a:lvl1pPr>
          </a:lstStyle>
          <a:p>
            <a:r>
              <a:rPr lang="ru-RU" sz="1800" dirty="0"/>
              <a:t>Инновационная пена с массажным эффектом. Снимает мышечное напряжение, распределяет давление, улучшает кровообращение.</a:t>
            </a:r>
            <a:endParaRPr lang="en-US" sz="1800" dirty="0"/>
          </a:p>
          <a:p>
            <a:r>
              <a:rPr lang="ru-RU" sz="1800" dirty="0"/>
              <a:t> </a:t>
            </a:r>
          </a:p>
          <a:p>
            <a:r>
              <a:rPr lang="ru-RU" sz="1800" dirty="0"/>
              <a:t>Дарит приятную мягкость, полное расслабление и ощущение невесомости.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43ABF-FB2B-6F58-343D-9C02883434FB}"/>
              </a:ext>
            </a:extLst>
          </p:cNvPr>
          <p:cNvSpPr txBox="1"/>
          <p:nvPr/>
        </p:nvSpPr>
        <p:spPr>
          <a:xfrm>
            <a:off x="680913" y="1769113"/>
            <a:ext cx="1953839" cy="370284"/>
          </a:xfrm>
          <a:prstGeom prst="roundRect">
            <a:avLst>
              <a:gd name="adj" fmla="val 29495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en-US" sz="1400" dirty="0"/>
              <a:t>Antemi Terra Light</a:t>
            </a:r>
          </a:p>
        </p:txBody>
      </p:sp>
    </p:spTree>
    <p:extLst>
      <p:ext uri="{BB962C8B-B14F-4D97-AF65-F5344CB8AC3E}">
        <p14:creationId xmlns:p14="http://schemas.microsoft.com/office/powerpoint/2010/main" val="2140693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9B72-7349-50E8-5EFA-FCE617410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D243DD4-6D9D-8AEE-9A5E-32387736C695}"/>
              </a:ext>
            </a:extLst>
          </p:cNvPr>
          <p:cNvSpPr txBox="1"/>
          <p:nvPr/>
        </p:nvSpPr>
        <p:spPr>
          <a:xfrm>
            <a:off x="566876" y="2463973"/>
            <a:ext cx="4756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ilroy-Bold" panose="00000800000000000000" pitchFamily="2" charset="-52"/>
              </a:rPr>
              <a:t>ORTO FOAM </a:t>
            </a:r>
            <a:endParaRPr lang="ru-RU" sz="4000" dirty="0">
              <a:latin typeface="Gilroy-Bold" panose="00000800000000000000" pitchFamily="2" charset="-5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01E031-782C-ECBF-F49A-FA1E7420F699}"/>
              </a:ext>
            </a:extLst>
          </p:cNvPr>
          <p:cNvSpPr txBox="1"/>
          <p:nvPr/>
        </p:nvSpPr>
        <p:spPr>
          <a:xfrm>
            <a:off x="577389" y="3171048"/>
            <a:ext cx="49986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200">
                <a:latin typeface="Gilroy-Light" panose="00000400000000000000" pitchFamily="2" charset="-52"/>
              </a:defRPr>
            </a:lvl1pPr>
          </a:lstStyle>
          <a:p>
            <a:r>
              <a:rPr lang="ru-RU" sz="1800" dirty="0"/>
              <a:t>Ортопедическая пена, обладает повышенным уровнем упругости </a:t>
            </a:r>
          </a:p>
          <a:p>
            <a:r>
              <a:rPr lang="ru-RU" sz="1800" dirty="0"/>
              <a:t>и обеспечивает необходимую поддержку позвоночника.</a:t>
            </a:r>
          </a:p>
          <a:p>
            <a:endParaRPr lang="ru-RU" sz="1800" dirty="0"/>
          </a:p>
          <a:p>
            <a:r>
              <a:rPr lang="ru-RU" sz="1800" dirty="0"/>
              <a:t>Отсутствие деформации наполнителей матраса: даже если малыш очень активен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32FBD0-BEDA-9F96-0161-EC5AF1214D92}"/>
              </a:ext>
            </a:extLst>
          </p:cNvPr>
          <p:cNvSpPr txBox="1"/>
          <p:nvPr/>
        </p:nvSpPr>
        <p:spPr>
          <a:xfrm>
            <a:off x="680913" y="1769113"/>
            <a:ext cx="1953839" cy="370284"/>
          </a:xfrm>
          <a:prstGeom prst="roundRect">
            <a:avLst>
              <a:gd name="adj" fmla="val 29495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en-US" sz="1400" dirty="0"/>
              <a:t>Antemi Terra Light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355A95-56AA-9FA5-8996-D0E120EEF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87" y="331861"/>
            <a:ext cx="1184501" cy="35283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1E45A46-12E8-9048-06E4-98C685D52F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9" t="11473" r="11684" b="3348"/>
          <a:stretch/>
        </p:blipFill>
        <p:spPr>
          <a:xfrm>
            <a:off x="9533939" y="98683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pic>
        <p:nvPicPr>
          <p:cNvPr id="41" name="Рисунок 40" descr="Жесткие наполнители для матрасов. Кокосовая койра для матраса">
            <a:extLst>
              <a:ext uri="{FF2B5EF4-FFF2-40B4-BE49-F238E27FC236}">
                <a16:creationId xmlns:a16="http://schemas.microsoft.com/office/drawing/2014/main" id="{7616D2B5-D8D3-9A09-639A-51953E2B00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2" t="18143" r="18297" b="24856"/>
          <a:stretch/>
        </p:blipFill>
        <p:spPr bwMode="auto">
          <a:xfrm>
            <a:off x="10349144" y="3654769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1E611C05-9262-F903-CD6D-6FBF1F24E1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848" t="3433" r="-723" b="37238"/>
          <a:stretch/>
        </p:blipFill>
        <p:spPr>
          <a:xfrm>
            <a:off x="9533939" y="479969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AD2989-D34D-1FAD-E1FC-1AFCF0695FD0}"/>
              </a:ext>
            </a:extLst>
          </p:cNvPr>
          <p:cNvSpPr txBox="1"/>
          <p:nvPr/>
        </p:nvSpPr>
        <p:spPr>
          <a:xfrm>
            <a:off x="587828" y="430317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Чехол </a:t>
            </a:r>
            <a:r>
              <a:rPr lang="en-US" sz="1000" dirty="0">
                <a:latin typeface="Gilroy-Light" panose="00000400000000000000" pitchFamily="2" charset="-52"/>
              </a:rPr>
              <a:t>Aloe Vera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76DF5-49B4-FBD7-17BB-C851D5E2A3E2}"/>
              </a:ext>
            </a:extLst>
          </p:cNvPr>
          <p:cNvSpPr txBox="1"/>
          <p:nvPr/>
        </p:nvSpPr>
        <p:spPr>
          <a:xfrm>
            <a:off x="1877338" y="43031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Soft foam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D0000-577C-2FA6-240E-1F07D8EB062F}"/>
              </a:ext>
            </a:extLst>
          </p:cNvPr>
          <p:cNvSpPr txBox="1"/>
          <p:nvPr/>
        </p:nvSpPr>
        <p:spPr>
          <a:xfrm>
            <a:off x="2778921" y="430317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Orto foam 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AB54D-F751-A1C0-1BFC-F48C4E7848E0}"/>
              </a:ext>
            </a:extLst>
          </p:cNvPr>
          <p:cNvSpPr txBox="1"/>
          <p:nvPr/>
        </p:nvSpPr>
        <p:spPr>
          <a:xfrm>
            <a:off x="3744624" y="430317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Натуральный кокос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AF076-495C-3F3D-A91D-9DDCBEBD0B54}"/>
              </a:ext>
            </a:extLst>
          </p:cNvPr>
          <p:cNvSpPr txBox="1"/>
          <p:nvPr/>
        </p:nvSpPr>
        <p:spPr>
          <a:xfrm>
            <a:off x="5268172" y="43031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roy-Light" panose="00000400000000000000" pitchFamily="2" charset="-52"/>
              </a:rPr>
              <a:t>Airotek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F06A94-0CBD-97DD-4A88-F25AB2BDA1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" t="1784" r="18669" b="16766"/>
          <a:stretch/>
        </p:blipFill>
        <p:spPr bwMode="auto">
          <a:xfrm>
            <a:off x="9533939" y="974871"/>
            <a:ext cx="1184502" cy="1184502"/>
          </a:xfrm>
          <a:custGeom>
            <a:avLst/>
            <a:gdLst>
              <a:gd name="connsiteX0" fmla="*/ 1764734 w 3529468"/>
              <a:gd name="connsiteY0" fmla="*/ 0 h 3529468"/>
              <a:gd name="connsiteX1" fmla="*/ 3529468 w 3529468"/>
              <a:gd name="connsiteY1" fmla="*/ 1764734 h 3529468"/>
              <a:gd name="connsiteX2" fmla="*/ 1764734 w 3529468"/>
              <a:gd name="connsiteY2" fmla="*/ 3529468 h 3529468"/>
              <a:gd name="connsiteX3" fmla="*/ 0 w 3529468"/>
              <a:gd name="connsiteY3" fmla="*/ 1764734 h 3529468"/>
              <a:gd name="connsiteX4" fmla="*/ 1764734 w 3529468"/>
              <a:gd name="connsiteY4" fmla="*/ 0 h 352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9468" h="3529468">
                <a:moveTo>
                  <a:pt x="1764734" y="0"/>
                </a:moveTo>
                <a:cubicBezTo>
                  <a:pt x="2739370" y="0"/>
                  <a:pt x="3529468" y="790098"/>
                  <a:pt x="3529468" y="1764734"/>
                </a:cubicBezTo>
                <a:cubicBezTo>
                  <a:pt x="3529468" y="2739370"/>
                  <a:pt x="2739370" y="3529468"/>
                  <a:pt x="1764734" y="3529468"/>
                </a:cubicBezTo>
                <a:cubicBezTo>
                  <a:pt x="790098" y="3529468"/>
                  <a:pt x="0" y="2739370"/>
                  <a:pt x="0" y="1764734"/>
                </a:cubicBezTo>
                <a:cubicBezTo>
                  <a:pt x="0" y="790098"/>
                  <a:pt x="790098" y="0"/>
                  <a:pt x="17647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87C13A-2C16-72D8-6C55-A6926B59E5B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97" t="17102" r="33460" b="2166"/>
          <a:stretch/>
        </p:blipFill>
        <p:spPr>
          <a:xfrm>
            <a:off x="5891885" y="1303611"/>
            <a:ext cx="4330024" cy="4359600"/>
          </a:xfrm>
          <a:custGeom>
            <a:avLst/>
            <a:gdLst>
              <a:gd name="connsiteX0" fmla="*/ 1809000 w 3593455"/>
              <a:gd name="connsiteY0" fmla="*/ 0 h 3618000"/>
              <a:gd name="connsiteX1" fmla="*/ 3581248 w 3593455"/>
              <a:gd name="connsiteY1" fmla="*/ 1444424 h 3618000"/>
              <a:gd name="connsiteX2" fmla="*/ 3593455 w 3593455"/>
              <a:gd name="connsiteY2" fmla="*/ 1524411 h 3618000"/>
              <a:gd name="connsiteX3" fmla="*/ 3593455 w 3593455"/>
              <a:gd name="connsiteY3" fmla="*/ 2093590 h 3618000"/>
              <a:gd name="connsiteX4" fmla="*/ 3581248 w 3593455"/>
              <a:gd name="connsiteY4" fmla="*/ 2173577 h 3618000"/>
              <a:gd name="connsiteX5" fmla="*/ 1809000 w 3593455"/>
              <a:gd name="connsiteY5" fmla="*/ 3618000 h 3618000"/>
              <a:gd name="connsiteX6" fmla="*/ 0 w 3593455"/>
              <a:gd name="connsiteY6" fmla="*/ 1809000 h 3618000"/>
              <a:gd name="connsiteX7" fmla="*/ 1809000 w 3593455"/>
              <a:gd name="connsiteY7" fmla="*/ 0 h 36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93455" h="3618000">
                <a:moveTo>
                  <a:pt x="1809000" y="0"/>
                </a:moveTo>
                <a:cubicBezTo>
                  <a:pt x="2683198" y="0"/>
                  <a:pt x="3412565" y="620093"/>
                  <a:pt x="3581248" y="1444424"/>
                </a:cubicBezTo>
                <a:lnTo>
                  <a:pt x="3593455" y="1524411"/>
                </a:lnTo>
                <a:lnTo>
                  <a:pt x="3593455" y="2093590"/>
                </a:lnTo>
                <a:lnTo>
                  <a:pt x="3581248" y="2173577"/>
                </a:lnTo>
                <a:cubicBezTo>
                  <a:pt x="3412565" y="2997908"/>
                  <a:pt x="2683198" y="3618000"/>
                  <a:pt x="1809000" y="3618000"/>
                </a:cubicBezTo>
                <a:cubicBezTo>
                  <a:pt x="809917" y="3618000"/>
                  <a:pt x="0" y="2808083"/>
                  <a:pt x="0" y="1809000"/>
                </a:cubicBezTo>
                <a:cubicBezTo>
                  <a:pt x="0" y="809917"/>
                  <a:pt x="809917" y="0"/>
                  <a:pt x="1809000" y="0"/>
                </a:cubicBezTo>
                <a:close/>
              </a:path>
            </a:pathLst>
          </a:cu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87793AC-CECA-54C2-4595-BFCC0C901DE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756" t="13135" r="10517" b="2880"/>
          <a:stretch/>
        </p:blipFill>
        <p:spPr>
          <a:xfrm>
            <a:off x="10341980" y="2141131"/>
            <a:ext cx="1184400" cy="1184400"/>
          </a:xfrm>
          <a:custGeom>
            <a:avLst/>
            <a:gdLst>
              <a:gd name="connsiteX0" fmla="*/ 1809000 w 3618000"/>
              <a:gd name="connsiteY0" fmla="*/ 0 h 3618000"/>
              <a:gd name="connsiteX1" fmla="*/ 3618000 w 3618000"/>
              <a:gd name="connsiteY1" fmla="*/ 1809000 h 3618000"/>
              <a:gd name="connsiteX2" fmla="*/ 1809000 w 3618000"/>
              <a:gd name="connsiteY2" fmla="*/ 3618000 h 3618000"/>
              <a:gd name="connsiteX3" fmla="*/ 0 w 3618000"/>
              <a:gd name="connsiteY3" fmla="*/ 1809000 h 3618000"/>
              <a:gd name="connsiteX4" fmla="*/ 1809000 w 3618000"/>
              <a:gd name="connsiteY4" fmla="*/ 0 h 36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8000" h="3618000">
                <a:moveTo>
                  <a:pt x="1809000" y="0"/>
                </a:moveTo>
                <a:cubicBezTo>
                  <a:pt x="2808083" y="0"/>
                  <a:pt x="3618000" y="809917"/>
                  <a:pt x="3618000" y="1809000"/>
                </a:cubicBezTo>
                <a:cubicBezTo>
                  <a:pt x="3618000" y="2808083"/>
                  <a:pt x="2808083" y="3618000"/>
                  <a:pt x="1809000" y="3618000"/>
                </a:cubicBezTo>
                <a:cubicBezTo>
                  <a:pt x="809917" y="3618000"/>
                  <a:pt x="0" y="2808083"/>
                  <a:pt x="0" y="1809000"/>
                </a:cubicBezTo>
                <a:cubicBezTo>
                  <a:pt x="0" y="809917"/>
                  <a:pt x="809917" y="0"/>
                  <a:pt x="18090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7130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15BF-F1FF-23BE-410D-83C363E8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108EC9C-BB7C-6EFA-8E8F-7885B99FC39F}"/>
              </a:ext>
            </a:extLst>
          </p:cNvPr>
          <p:cNvSpPr txBox="1"/>
          <p:nvPr/>
        </p:nvSpPr>
        <p:spPr>
          <a:xfrm>
            <a:off x="566876" y="2463973"/>
            <a:ext cx="4756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Gilroy-Bold" panose="00000800000000000000" pitchFamily="2" charset="-52"/>
              </a:rPr>
              <a:t>КОКОС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AA17C8-4FE5-679C-989F-07B27D64E331}"/>
              </a:ext>
            </a:extLst>
          </p:cNvPr>
          <p:cNvSpPr txBox="1"/>
          <p:nvPr/>
        </p:nvSpPr>
        <p:spPr>
          <a:xfrm>
            <a:off x="577389" y="3171048"/>
            <a:ext cx="4998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200">
                <a:latin typeface="Gilroy-Light" panose="00000400000000000000" pitchFamily="2" charset="-52"/>
              </a:defRPr>
            </a:lvl1pPr>
          </a:lstStyle>
          <a:p>
            <a:r>
              <a:rPr lang="ru-RU" sz="1800" dirty="0"/>
              <a:t>Натуральный материал, обеспечивает необходимую жесткость и ортопедический эффект, а также отличается </a:t>
            </a:r>
            <a:r>
              <a:rPr lang="ru-RU" sz="1800" dirty="0" err="1"/>
              <a:t>гипоаллергенностью</a:t>
            </a:r>
            <a:r>
              <a:rPr lang="ru-RU" sz="1800" dirty="0"/>
              <a:t>, долговечностью </a:t>
            </a:r>
          </a:p>
          <a:p>
            <a:r>
              <a:rPr lang="ru-RU" sz="1800" dirty="0"/>
              <a:t>и устойчивостью к деформации.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2D8BA-4793-87CE-EE13-0776FEB41BBC}"/>
              </a:ext>
            </a:extLst>
          </p:cNvPr>
          <p:cNvSpPr txBox="1"/>
          <p:nvPr/>
        </p:nvSpPr>
        <p:spPr>
          <a:xfrm>
            <a:off x="680913" y="1769113"/>
            <a:ext cx="1953839" cy="370284"/>
          </a:xfrm>
          <a:prstGeom prst="roundRect">
            <a:avLst>
              <a:gd name="adj" fmla="val 29495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en-US" sz="1400" dirty="0"/>
              <a:t>Antemi Terra Light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642D75D-F272-1351-2EE6-B1DDD76EE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87" y="331861"/>
            <a:ext cx="1184501" cy="35283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45EB1634-BEAD-53C0-ADD2-B14AC92915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9" t="11473" r="11684" b="3348"/>
          <a:stretch/>
        </p:blipFill>
        <p:spPr>
          <a:xfrm>
            <a:off x="9533939" y="98683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1A3FEE7-91A8-BF40-AB16-06ED182ABA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848" t="3433" r="-723" b="37238"/>
          <a:stretch/>
        </p:blipFill>
        <p:spPr>
          <a:xfrm>
            <a:off x="9533939" y="479969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426B28-0557-D7D0-5253-172E590CDBF0}"/>
              </a:ext>
            </a:extLst>
          </p:cNvPr>
          <p:cNvSpPr txBox="1"/>
          <p:nvPr/>
        </p:nvSpPr>
        <p:spPr>
          <a:xfrm>
            <a:off x="587828" y="430317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Чехол </a:t>
            </a:r>
            <a:r>
              <a:rPr lang="en-US" sz="1000" dirty="0">
                <a:latin typeface="Gilroy-Light" panose="00000400000000000000" pitchFamily="2" charset="-52"/>
              </a:rPr>
              <a:t>Aloe Vera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2DE4E-1613-8712-44AB-23EEBB2BD245}"/>
              </a:ext>
            </a:extLst>
          </p:cNvPr>
          <p:cNvSpPr txBox="1"/>
          <p:nvPr/>
        </p:nvSpPr>
        <p:spPr>
          <a:xfrm>
            <a:off x="1877338" y="43031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Soft foam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D7A8E-1487-3A01-9A88-4C3DC767FC04}"/>
              </a:ext>
            </a:extLst>
          </p:cNvPr>
          <p:cNvSpPr txBox="1"/>
          <p:nvPr/>
        </p:nvSpPr>
        <p:spPr>
          <a:xfrm>
            <a:off x="2778921" y="430317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Orto foam 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C58E5-9FE1-AEAC-ECA6-9CA3DACBCFAC}"/>
              </a:ext>
            </a:extLst>
          </p:cNvPr>
          <p:cNvSpPr txBox="1"/>
          <p:nvPr/>
        </p:nvSpPr>
        <p:spPr>
          <a:xfrm>
            <a:off x="3744624" y="430317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Натуральный кокос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130F4-D6E3-3580-53CB-6A16E3B35D9A}"/>
              </a:ext>
            </a:extLst>
          </p:cNvPr>
          <p:cNvSpPr txBox="1"/>
          <p:nvPr/>
        </p:nvSpPr>
        <p:spPr>
          <a:xfrm>
            <a:off x="5268172" y="43031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roy-Light" panose="00000400000000000000" pitchFamily="2" charset="-52"/>
              </a:rPr>
              <a:t>Airotek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CAD9A0-8B67-6DC5-A166-7378F465B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" t="1784" r="18669" b="16766"/>
          <a:stretch/>
        </p:blipFill>
        <p:spPr bwMode="auto">
          <a:xfrm>
            <a:off x="9533939" y="974871"/>
            <a:ext cx="1184502" cy="1184502"/>
          </a:xfrm>
          <a:custGeom>
            <a:avLst/>
            <a:gdLst>
              <a:gd name="connsiteX0" fmla="*/ 1764734 w 3529468"/>
              <a:gd name="connsiteY0" fmla="*/ 0 h 3529468"/>
              <a:gd name="connsiteX1" fmla="*/ 3529468 w 3529468"/>
              <a:gd name="connsiteY1" fmla="*/ 1764734 h 3529468"/>
              <a:gd name="connsiteX2" fmla="*/ 1764734 w 3529468"/>
              <a:gd name="connsiteY2" fmla="*/ 3529468 h 3529468"/>
              <a:gd name="connsiteX3" fmla="*/ 0 w 3529468"/>
              <a:gd name="connsiteY3" fmla="*/ 1764734 h 3529468"/>
              <a:gd name="connsiteX4" fmla="*/ 1764734 w 3529468"/>
              <a:gd name="connsiteY4" fmla="*/ 0 h 352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9468" h="3529468">
                <a:moveTo>
                  <a:pt x="1764734" y="0"/>
                </a:moveTo>
                <a:cubicBezTo>
                  <a:pt x="2739370" y="0"/>
                  <a:pt x="3529468" y="790098"/>
                  <a:pt x="3529468" y="1764734"/>
                </a:cubicBezTo>
                <a:cubicBezTo>
                  <a:pt x="3529468" y="2739370"/>
                  <a:pt x="2739370" y="3529468"/>
                  <a:pt x="1764734" y="3529468"/>
                </a:cubicBezTo>
                <a:cubicBezTo>
                  <a:pt x="790098" y="3529468"/>
                  <a:pt x="0" y="2739370"/>
                  <a:pt x="0" y="1764734"/>
                </a:cubicBezTo>
                <a:cubicBezTo>
                  <a:pt x="0" y="790098"/>
                  <a:pt x="790098" y="0"/>
                  <a:pt x="17647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C045E0-4483-810C-319B-462C2C5EFF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56" t="13135" r="10517" b="2880"/>
          <a:stretch/>
        </p:blipFill>
        <p:spPr>
          <a:xfrm>
            <a:off x="10341980" y="2141131"/>
            <a:ext cx="1184400" cy="1184400"/>
          </a:xfrm>
          <a:custGeom>
            <a:avLst/>
            <a:gdLst>
              <a:gd name="connsiteX0" fmla="*/ 1809000 w 3618000"/>
              <a:gd name="connsiteY0" fmla="*/ 0 h 3618000"/>
              <a:gd name="connsiteX1" fmla="*/ 3618000 w 3618000"/>
              <a:gd name="connsiteY1" fmla="*/ 1809000 h 3618000"/>
              <a:gd name="connsiteX2" fmla="*/ 1809000 w 3618000"/>
              <a:gd name="connsiteY2" fmla="*/ 3618000 h 3618000"/>
              <a:gd name="connsiteX3" fmla="*/ 0 w 3618000"/>
              <a:gd name="connsiteY3" fmla="*/ 1809000 h 3618000"/>
              <a:gd name="connsiteX4" fmla="*/ 1809000 w 3618000"/>
              <a:gd name="connsiteY4" fmla="*/ 0 h 36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8000" h="3618000">
                <a:moveTo>
                  <a:pt x="1809000" y="0"/>
                </a:moveTo>
                <a:cubicBezTo>
                  <a:pt x="2808083" y="0"/>
                  <a:pt x="3618000" y="809917"/>
                  <a:pt x="3618000" y="1809000"/>
                </a:cubicBezTo>
                <a:cubicBezTo>
                  <a:pt x="3618000" y="2808083"/>
                  <a:pt x="2808083" y="3618000"/>
                  <a:pt x="1809000" y="3618000"/>
                </a:cubicBezTo>
                <a:cubicBezTo>
                  <a:pt x="809917" y="3618000"/>
                  <a:pt x="0" y="2808083"/>
                  <a:pt x="0" y="1809000"/>
                </a:cubicBezTo>
                <a:cubicBezTo>
                  <a:pt x="0" y="809917"/>
                  <a:pt x="809917" y="0"/>
                  <a:pt x="1809000" y="0"/>
                </a:cubicBezTo>
                <a:close/>
              </a:path>
            </a:pathLst>
          </a:custGeom>
        </p:spPr>
      </p:pic>
      <p:pic>
        <p:nvPicPr>
          <p:cNvPr id="7" name="Рисунок 6" descr="Жесткие наполнители для матрасов. Кокосовая койра для матраса">
            <a:extLst>
              <a:ext uri="{FF2B5EF4-FFF2-40B4-BE49-F238E27FC236}">
                <a16:creationId xmlns:a16="http://schemas.microsoft.com/office/drawing/2014/main" id="{3B925507-C715-7E84-1A51-7F5F4A32A1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5" t="13154" r="11433" b="18434"/>
          <a:stretch/>
        </p:blipFill>
        <p:spPr bwMode="auto">
          <a:xfrm>
            <a:off x="5896464" y="1309433"/>
            <a:ext cx="4359600" cy="4359600"/>
          </a:xfrm>
          <a:custGeom>
            <a:avLst/>
            <a:gdLst>
              <a:gd name="connsiteX0" fmla="*/ 1809000 w 3618000"/>
              <a:gd name="connsiteY0" fmla="*/ 0 h 3618000"/>
              <a:gd name="connsiteX1" fmla="*/ 3618000 w 3618000"/>
              <a:gd name="connsiteY1" fmla="*/ 1809000 h 3618000"/>
              <a:gd name="connsiteX2" fmla="*/ 1809000 w 3618000"/>
              <a:gd name="connsiteY2" fmla="*/ 3618000 h 3618000"/>
              <a:gd name="connsiteX3" fmla="*/ 0 w 3618000"/>
              <a:gd name="connsiteY3" fmla="*/ 1809000 h 3618000"/>
              <a:gd name="connsiteX4" fmla="*/ 1809000 w 3618000"/>
              <a:gd name="connsiteY4" fmla="*/ 0 h 36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8000" h="3618000">
                <a:moveTo>
                  <a:pt x="1809000" y="0"/>
                </a:moveTo>
                <a:cubicBezTo>
                  <a:pt x="2808083" y="0"/>
                  <a:pt x="3618000" y="809917"/>
                  <a:pt x="3618000" y="1809000"/>
                </a:cubicBezTo>
                <a:cubicBezTo>
                  <a:pt x="3618000" y="2808083"/>
                  <a:pt x="2808083" y="3618000"/>
                  <a:pt x="1809000" y="3618000"/>
                </a:cubicBezTo>
                <a:cubicBezTo>
                  <a:pt x="809917" y="3618000"/>
                  <a:pt x="0" y="2808083"/>
                  <a:pt x="0" y="1809000"/>
                </a:cubicBezTo>
                <a:cubicBezTo>
                  <a:pt x="0" y="809917"/>
                  <a:pt x="809917" y="0"/>
                  <a:pt x="180900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8043D93-8804-A67D-0D78-781E0DA3FC0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60" t="15205" r="30598" b="239"/>
          <a:stretch/>
        </p:blipFill>
        <p:spPr>
          <a:xfrm>
            <a:off x="10351718" y="3648945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5530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CA1A-279B-0172-D9DF-B563F4B8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B9DCFB1-948F-338D-21CE-0885395ABBA3}"/>
              </a:ext>
            </a:extLst>
          </p:cNvPr>
          <p:cNvSpPr txBox="1"/>
          <p:nvPr/>
        </p:nvSpPr>
        <p:spPr>
          <a:xfrm>
            <a:off x="566876" y="2463973"/>
            <a:ext cx="4756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ilroy-Bold" panose="00000800000000000000" pitchFamily="2" charset="-52"/>
              </a:rPr>
              <a:t>AIROTEK</a:t>
            </a:r>
            <a:endParaRPr lang="ru-RU" sz="4000" dirty="0">
              <a:latin typeface="Gilroy-Bold" panose="00000800000000000000" pitchFamily="2" charset="-5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8302BC-E9BB-A091-E9A8-D67F80A177AC}"/>
              </a:ext>
            </a:extLst>
          </p:cNvPr>
          <p:cNvSpPr txBox="1"/>
          <p:nvPr/>
        </p:nvSpPr>
        <p:spPr>
          <a:xfrm>
            <a:off x="577389" y="3171048"/>
            <a:ext cx="4998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3200">
                <a:latin typeface="Gilroy-Light" panose="00000400000000000000" pitchFamily="2" charset="-52"/>
              </a:defRPr>
            </a:lvl1pPr>
          </a:lstStyle>
          <a:p>
            <a:r>
              <a:rPr lang="ru-RU" sz="1800" dirty="0"/>
              <a:t>Гипоаллергенный нетканый материал. Дополнительный защитный слой, продлевающий срок службы изделия и обеспечивающий комфорт в использовании.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1E7F3B-324F-A4A8-81BA-8A53466819F7}"/>
              </a:ext>
            </a:extLst>
          </p:cNvPr>
          <p:cNvSpPr txBox="1"/>
          <p:nvPr/>
        </p:nvSpPr>
        <p:spPr>
          <a:xfrm>
            <a:off x="680913" y="1769113"/>
            <a:ext cx="1953839" cy="370284"/>
          </a:xfrm>
          <a:prstGeom prst="roundRect">
            <a:avLst>
              <a:gd name="adj" fmla="val 29495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en-US" sz="1400" dirty="0"/>
              <a:t>Antemi Terra Light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1C61DBD-D5DB-B8D7-E058-336990250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87" y="331861"/>
            <a:ext cx="1184501" cy="35283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7629067-3A4A-1B3D-8A76-3A81265D6A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9" t="11473" r="11684" b="3348"/>
          <a:stretch/>
        </p:blipFill>
        <p:spPr>
          <a:xfrm>
            <a:off x="9533939" y="986830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98356B-AECC-B103-DEFA-E06751AB5C0D}"/>
              </a:ext>
            </a:extLst>
          </p:cNvPr>
          <p:cNvSpPr txBox="1"/>
          <p:nvPr/>
        </p:nvSpPr>
        <p:spPr>
          <a:xfrm>
            <a:off x="587828" y="430317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Чехол </a:t>
            </a:r>
            <a:r>
              <a:rPr lang="en-US" sz="1000" dirty="0">
                <a:latin typeface="Gilroy-Light" panose="00000400000000000000" pitchFamily="2" charset="-52"/>
              </a:rPr>
              <a:t>Aloe Vera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B3E1-84CC-813E-916A-0560736DF71E}"/>
              </a:ext>
            </a:extLst>
          </p:cNvPr>
          <p:cNvSpPr txBox="1"/>
          <p:nvPr/>
        </p:nvSpPr>
        <p:spPr>
          <a:xfrm>
            <a:off x="1877338" y="43031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Soft foam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B8F55-6DCD-2D44-57EA-A7D1BE07EE1F}"/>
              </a:ext>
            </a:extLst>
          </p:cNvPr>
          <p:cNvSpPr txBox="1"/>
          <p:nvPr/>
        </p:nvSpPr>
        <p:spPr>
          <a:xfrm>
            <a:off x="2778921" y="430317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Orto foam 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4C2A-2A87-E50A-B890-F9820C96F726}"/>
              </a:ext>
            </a:extLst>
          </p:cNvPr>
          <p:cNvSpPr txBox="1"/>
          <p:nvPr/>
        </p:nvSpPr>
        <p:spPr>
          <a:xfrm>
            <a:off x="3744624" y="430317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Натуральный кокос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3D741-C83D-00FD-33D0-B37F58A4937D}"/>
              </a:ext>
            </a:extLst>
          </p:cNvPr>
          <p:cNvSpPr txBox="1"/>
          <p:nvPr/>
        </p:nvSpPr>
        <p:spPr>
          <a:xfrm>
            <a:off x="5268172" y="43031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roy-Light" panose="00000400000000000000" pitchFamily="2" charset="-52"/>
              </a:rPr>
              <a:t>Airotek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0F8382-9F16-DBD2-D350-29FA8CD77B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" t="1784" r="18669" b="16766"/>
          <a:stretch/>
        </p:blipFill>
        <p:spPr bwMode="auto">
          <a:xfrm>
            <a:off x="9533939" y="974871"/>
            <a:ext cx="1184502" cy="1184502"/>
          </a:xfrm>
          <a:custGeom>
            <a:avLst/>
            <a:gdLst>
              <a:gd name="connsiteX0" fmla="*/ 1764734 w 3529468"/>
              <a:gd name="connsiteY0" fmla="*/ 0 h 3529468"/>
              <a:gd name="connsiteX1" fmla="*/ 3529468 w 3529468"/>
              <a:gd name="connsiteY1" fmla="*/ 1764734 h 3529468"/>
              <a:gd name="connsiteX2" fmla="*/ 1764734 w 3529468"/>
              <a:gd name="connsiteY2" fmla="*/ 3529468 h 3529468"/>
              <a:gd name="connsiteX3" fmla="*/ 0 w 3529468"/>
              <a:gd name="connsiteY3" fmla="*/ 1764734 h 3529468"/>
              <a:gd name="connsiteX4" fmla="*/ 1764734 w 3529468"/>
              <a:gd name="connsiteY4" fmla="*/ 0 h 352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9468" h="3529468">
                <a:moveTo>
                  <a:pt x="1764734" y="0"/>
                </a:moveTo>
                <a:cubicBezTo>
                  <a:pt x="2739370" y="0"/>
                  <a:pt x="3529468" y="790098"/>
                  <a:pt x="3529468" y="1764734"/>
                </a:cubicBezTo>
                <a:cubicBezTo>
                  <a:pt x="3529468" y="2739370"/>
                  <a:pt x="2739370" y="3529468"/>
                  <a:pt x="1764734" y="3529468"/>
                </a:cubicBezTo>
                <a:cubicBezTo>
                  <a:pt x="790098" y="3529468"/>
                  <a:pt x="0" y="2739370"/>
                  <a:pt x="0" y="1764734"/>
                </a:cubicBezTo>
                <a:cubicBezTo>
                  <a:pt x="0" y="790098"/>
                  <a:pt x="790098" y="0"/>
                  <a:pt x="17647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EFD5BE-FAEF-53BA-A46B-6BE961BC93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56" t="13135" r="10517" b="2880"/>
          <a:stretch/>
        </p:blipFill>
        <p:spPr>
          <a:xfrm>
            <a:off x="10341980" y="2141131"/>
            <a:ext cx="1184400" cy="1184400"/>
          </a:xfrm>
          <a:custGeom>
            <a:avLst/>
            <a:gdLst>
              <a:gd name="connsiteX0" fmla="*/ 1809000 w 3618000"/>
              <a:gd name="connsiteY0" fmla="*/ 0 h 3618000"/>
              <a:gd name="connsiteX1" fmla="*/ 3618000 w 3618000"/>
              <a:gd name="connsiteY1" fmla="*/ 1809000 h 3618000"/>
              <a:gd name="connsiteX2" fmla="*/ 1809000 w 3618000"/>
              <a:gd name="connsiteY2" fmla="*/ 3618000 h 3618000"/>
              <a:gd name="connsiteX3" fmla="*/ 0 w 3618000"/>
              <a:gd name="connsiteY3" fmla="*/ 1809000 h 3618000"/>
              <a:gd name="connsiteX4" fmla="*/ 1809000 w 3618000"/>
              <a:gd name="connsiteY4" fmla="*/ 0 h 36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8000" h="3618000">
                <a:moveTo>
                  <a:pt x="1809000" y="0"/>
                </a:moveTo>
                <a:cubicBezTo>
                  <a:pt x="2808083" y="0"/>
                  <a:pt x="3618000" y="809917"/>
                  <a:pt x="3618000" y="1809000"/>
                </a:cubicBezTo>
                <a:cubicBezTo>
                  <a:pt x="3618000" y="2808083"/>
                  <a:pt x="2808083" y="3618000"/>
                  <a:pt x="1809000" y="3618000"/>
                </a:cubicBezTo>
                <a:cubicBezTo>
                  <a:pt x="809917" y="3618000"/>
                  <a:pt x="0" y="2808083"/>
                  <a:pt x="0" y="1809000"/>
                </a:cubicBezTo>
                <a:cubicBezTo>
                  <a:pt x="0" y="809917"/>
                  <a:pt x="809917" y="0"/>
                  <a:pt x="1809000" y="0"/>
                </a:cubicBezTo>
                <a:close/>
              </a:path>
            </a:pathLst>
          </a:cu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4EA7F3E-A0EE-31D5-5EFD-AD66C241CF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60" t="15205" r="30598" b="239"/>
          <a:stretch/>
        </p:blipFill>
        <p:spPr>
          <a:xfrm>
            <a:off x="10351718" y="3648945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AC8C25-E61F-3C02-A043-9FFCB7482B0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563" t="12691" r="2277" b="29148"/>
          <a:stretch>
            <a:fillRect/>
          </a:stretch>
        </p:blipFill>
        <p:spPr>
          <a:xfrm>
            <a:off x="5889209" y="1303611"/>
            <a:ext cx="4359600" cy="4359600"/>
          </a:xfrm>
          <a:custGeom>
            <a:avLst/>
            <a:gdLst>
              <a:gd name="connsiteX0" fmla="*/ 1809000 w 3618000"/>
              <a:gd name="connsiteY0" fmla="*/ 0 h 3618000"/>
              <a:gd name="connsiteX1" fmla="*/ 3618000 w 3618000"/>
              <a:gd name="connsiteY1" fmla="*/ 1809000 h 3618000"/>
              <a:gd name="connsiteX2" fmla="*/ 1809000 w 3618000"/>
              <a:gd name="connsiteY2" fmla="*/ 3618000 h 3618000"/>
              <a:gd name="connsiteX3" fmla="*/ 0 w 3618000"/>
              <a:gd name="connsiteY3" fmla="*/ 1809000 h 3618000"/>
              <a:gd name="connsiteX4" fmla="*/ 1809000 w 3618000"/>
              <a:gd name="connsiteY4" fmla="*/ 0 h 36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8000" h="3618000">
                <a:moveTo>
                  <a:pt x="1809000" y="0"/>
                </a:moveTo>
                <a:cubicBezTo>
                  <a:pt x="2808083" y="0"/>
                  <a:pt x="3618000" y="809917"/>
                  <a:pt x="3618000" y="1809000"/>
                </a:cubicBezTo>
                <a:cubicBezTo>
                  <a:pt x="3618000" y="2808083"/>
                  <a:pt x="2808083" y="3618000"/>
                  <a:pt x="1809000" y="3618000"/>
                </a:cubicBezTo>
                <a:cubicBezTo>
                  <a:pt x="809917" y="3618000"/>
                  <a:pt x="0" y="2808083"/>
                  <a:pt x="0" y="1809000"/>
                </a:cubicBezTo>
                <a:cubicBezTo>
                  <a:pt x="0" y="809917"/>
                  <a:pt x="809917" y="0"/>
                  <a:pt x="1809000" y="0"/>
                </a:cubicBezTo>
                <a:close/>
              </a:path>
            </a:pathLst>
          </a:custGeom>
        </p:spPr>
      </p:pic>
      <p:pic>
        <p:nvPicPr>
          <p:cNvPr id="12" name="Рисунок 11" descr="Жесткие наполнители для матрасов. Кокосовая койра для матраса">
            <a:extLst>
              <a:ext uri="{FF2B5EF4-FFF2-40B4-BE49-F238E27FC236}">
                <a16:creationId xmlns:a16="http://schemas.microsoft.com/office/drawing/2014/main" id="{F31E7D73-311D-8916-A498-29A9250109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2" t="18143" r="18297" b="24856"/>
          <a:stretch/>
        </p:blipFill>
        <p:spPr bwMode="auto">
          <a:xfrm>
            <a:off x="9513217" y="4815848"/>
            <a:ext cx="1177236" cy="1177236"/>
          </a:xfrm>
          <a:custGeom>
            <a:avLst/>
            <a:gdLst>
              <a:gd name="connsiteX0" fmla="*/ 588618 w 1177236"/>
              <a:gd name="connsiteY0" fmla="*/ 0 h 1177236"/>
              <a:gd name="connsiteX1" fmla="*/ 1177236 w 1177236"/>
              <a:gd name="connsiteY1" fmla="*/ 588618 h 1177236"/>
              <a:gd name="connsiteX2" fmla="*/ 588618 w 1177236"/>
              <a:gd name="connsiteY2" fmla="*/ 1177236 h 1177236"/>
              <a:gd name="connsiteX3" fmla="*/ 0 w 1177236"/>
              <a:gd name="connsiteY3" fmla="*/ 588618 h 1177236"/>
              <a:gd name="connsiteX4" fmla="*/ 588618 w 1177236"/>
              <a:gd name="connsiteY4" fmla="*/ 0 h 117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36" h="1177236">
                <a:moveTo>
                  <a:pt x="588618" y="0"/>
                </a:moveTo>
                <a:cubicBezTo>
                  <a:pt x="913703" y="0"/>
                  <a:pt x="1177236" y="263533"/>
                  <a:pt x="1177236" y="588618"/>
                </a:cubicBezTo>
                <a:cubicBezTo>
                  <a:pt x="1177236" y="913703"/>
                  <a:pt x="913703" y="1177236"/>
                  <a:pt x="588618" y="1177236"/>
                </a:cubicBezTo>
                <a:cubicBezTo>
                  <a:pt x="263533" y="1177236"/>
                  <a:pt x="0" y="913703"/>
                  <a:pt x="0" y="588618"/>
                </a:cubicBezTo>
                <a:cubicBezTo>
                  <a:pt x="0" y="263533"/>
                  <a:pt x="263533" y="0"/>
                  <a:pt x="58861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71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D122F-A3BC-0F09-2BD0-50C25C84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hidden="1">
            <a:extLst>
              <a:ext uri="{FF2B5EF4-FFF2-40B4-BE49-F238E27FC236}">
                <a16:creationId xmlns:a16="http://schemas.microsoft.com/office/drawing/2014/main" id="{DCAF58F4-BFE6-CE29-0B05-DF5276CDD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1" t="7713" r="31301" b="2286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8" name="Рисунок 7" hidden="1">
            <a:extLst>
              <a:ext uri="{FF2B5EF4-FFF2-40B4-BE49-F238E27FC236}">
                <a16:creationId xmlns:a16="http://schemas.microsoft.com/office/drawing/2014/main" id="{1B59496A-63AC-986C-0FF3-4FFEAF214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7" t="60600" r="51731" b="22775"/>
          <a:stretch/>
        </p:blipFill>
        <p:spPr>
          <a:xfrm>
            <a:off x="658813" y="1344812"/>
            <a:ext cx="5371808" cy="1584506"/>
          </a:xfrm>
          <a:custGeom>
            <a:avLst/>
            <a:gdLst/>
            <a:ahLst/>
            <a:cxnLst/>
            <a:rect l="l" t="t" r="r" b="b"/>
            <a:pathLst>
              <a:path w="3865321" h="1140142">
                <a:moveTo>
                  <a:pt x="540677" y="258975"/>
                </a:moveTo>
                <a:lnTo>
                  <a:pt x="384315" y="724804"/>
                </a:lnTo>
                <a:lnTo>
                  <a:pt x="705209" y="724804"/>
                </a:lnTo>
                <a:close/>
                <a:moveTo>
                  <a:pt x="3160061" y="0"/>
                </a:moveTo>
                <a:lnTo>
                  <a:pt x="3857177" y="0"/>
                </a:lnTo>
                <a:lnTo>
                  <a:pt x="3857177" y="214998"/>
                </a:lnTo>
                <a:lnTo>
                  <a:pt x="3384832" y="214998"/>
                </a:lnTo>
                <a:lnTo>
                  <a:pt x="3384832" y="457685"/>
                </a:lnTo>
                <a:lnTo>
                  <a:pt x="3816458" y="457685"/>
                </a:lnTo>
                <a:lnTo>
                  <a:pt x="3816458" y="669426"/>
                </a:lnTo>
                <a:lnTo>
                  <a:pt x="3384832" y="669426"/>
                </a:lnTo>
                <a:lnTo>
                  <a:pt x="3384832" y="925144"/>
                </a:lnTo>
                <a:lnTo>
                  <a:pt x="3865321" y="925144"/>
                </a:lnTo>
                <a:lnTo>
                  <a:pt x="3865321" y="1140142"/>
                </a:lnTo>
                <a:lnTo>
                  <a:pt x="3160061" y="1140142"/>
                </a:lnTo>
                <a:close/>
                <a:moveTo>
                  <a:pt x="2199065" y="0"/>
                </a:moveTo>
                <a:lnTo>
                  <a:pt x="3037884" y="0"/>
                </a:lnTo>
                <a:lnTo>
                  <a:pt x="3037884" y="214998"/>
                </a:lnTo>
                <a:lnTo>
                  <a:pt x="2730046" y="214998"/>
                </a:lnTo>
                <a:lnTo>
                  <a:pt x="2730046" y="1140142"/>
                </a:lnTo>
                <a:lnTo>
                  <a:pt x="2505275" y="1140142"/>
                </a:lnTo>
                <a:lnTo>
                  <a:pt x="2505275" y="214998"/>
                </a:lnTo>
                <a:lnTo>
                  <a:pt x="2199065" y="214998"/>
                </a:lnTo>
                <a:close/>
                <a:moveTo>
                  <a:pt x="1188387" y="0"/>
                </a:moveTo>
                <a:lnTo>
                  <a:pt x="1359230" y="0"/>
                </a:lnTo>
                <a:lnTo>
                  <a:pt x="1848040" y="694545"/>
                </a:lnTo>
                <a:lnTo>
                  <a:pt x="1848040" y="0"/>
                </a:lnTo>
                <a:lnTo>
                  <a:pt x="2072811" y="0"/>
                </a:lnTo>
                <a:lnTo>
                  <a:pt x="2072811" y="1140142"/>
                </a:lnTo>
                <a:lnTo>
                  <a:pt x="1901790" y="1140142"/>
                </a:lnTo>
                <a:lnTo>
                  <a:pt x="1413158" y="443026"/>
                </a:lnTo>
                <a:lnTo>
                  <a:pt x="1413158" y="1140142"/>
                </a:lnTo>
                <a:lnTo>
                  <a:pt x="1188387" y="1140142"/>
                </a:lnTo>
                <a:close/>
                <a:moveTo>
                  <a:pt x="399050" y="0"/>
                </a:moveTo>
                <a:lnTo>
                  <a:pt x="677571" y="0"/>
                </a:lnTo>
                <a:lnTo>
                  <a:pt x="1079802" y="1140142"/>
                </a:lnTo>
                <a:lnTo>
                  <a:pt x="851926" y="1140142"/>
                </a:lnTo>
                <a:lnTo>
                  <a:pt x="779445" y="934916"/>
                </a:lnTo>
                <a:lnTo>
                  <a:pt x="311096" y="934916"/>
                </a:lnTo>
                <a:lnTo>
                  <a:pt x="242688" y="1140142"/>
                </a:lnTo>
                <a:lnTo>
                  <a:pt x="0" y="1140142"/>
                </a:lnTo>
                <a:close/>
              </a:path>
            </a:pathLst>
          </a:custGeom>
        </p:spPr>
      </p:pic>
      <p:pic>
        <p:nvPicPr>
          <p:cNvPr id="1028" name="Picture 4" descr="Детский матраc Antemi Terra 100х70х12 см - купить в Москве" hidden="1">
            <a:extLst>
              <a:ext uri="{FF2B5EF4-FFF2-40B4-BE49-F238E27FC236}">
                <a16:creationId xmlns:a16="http://schemas.microsoft.com/office/drawing/2014/main" id="{7A6318DE-4CD0-95DE-2F0A-3D61C26246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2682" r="9522" b="9904"/>
          <a:stretch/>
        </p:blipFill>
        <p:spPr bwMode="auto">
          <a:xfrm>
            <a:off x="6096000" y="-1"/>
            <a:ext cx="6096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652A99C-9350-E219-254E-EBC9A3B707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" t="30142" r="56073" b="20440"/>
          <a:stretch/>
        </p:blipFill>
        <p:spPr bwMode="auto">
          <a:xfrm>
            <a:off x="6094398" y="-1"/>
            <a:ext cx="6097602" cy="6858001"/>
          </a:xfrm>
          <a:custGeom>
            <a:avLst/>
            <a:gdLst>
              <a:gd name="connsiteX0" fmla="*/ 0 w 6097602"/>
              <a:gd name="connsiteY0" fmla="*/ 0 h 7108441"/>
              <a:gd name="connsiteX1" fmla="*/ 6096000 w 6097602"/>
              <a:gd name="connsiteY1" fmla="*/ 0 h 7108441"/>
              <a:gd name="connsiteX2" fmla="*/ 6096000 w 6097602"/>
              <a:gd name="connsiteY2" fmla="*/ 88708 h 7108441"/>
              <a:gd name="connsiteX3" fmla="*/ 6097602 w 6097602"/>
              <a:gd name="connsiteY3" fmla="*/ 88708 h 7108441"/>
              <a:gd name="connsiteX4" fmla="*/ 6097602 w 6097602"/>
              <a:gd name="connsiteY4" fmla="*/ 6946708 h 7108441"/>
              <a:gd name="connsiteX5" fmla="*/ 6096000 w 6097602"/>
              <a:gd name="connsiteY5" fmla="*/ 6946708 h 7108441"/>
              <a:gd name="connsiteX6" fmla="*/ 6096000 w 6097602"/>
              <a:gd name="connsiteY6" fmla="*/ 7108441 h 7108441"/>
              <a:gd name="connsiteX7" fmla="*/ 0 w 6097602"/>
              <a:gd name="connsiteY7" fmla="*/ 7108441 h 7108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7602" h="7108441">
                <a:moveTo>
                  <a:pt x="0" y="0"/>
                </a:moveTo>
                <a:lnTo>
                  <a:pt x="6096000" y="0"/>
                </a:lnTo>
                <a:lnTo>
                  <a:pt x="6096000" y="88708"/>
                </a:lnTo>
                <a:lnTo>
                  <a:pt x="6097602" y="88708"/>
                </a:lnTo>
                <a:lnTo>
                  <a:pt x="6097602" y="6946708"/>
                </a:lnTo>
                <a:lnTo>
                  <a:pt x="6096000" y="6946708"/>
                </a:lnTo>
                <a:lnTo>
                  <a:pt x="6096000" y="7108441"/>
                </a:lnTo>
                <a:lnTo>
                  <a:pt x="0" y="710844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1EA6E0F-A02F-6FB2-F242-5A357B0FC79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992737-6B51-CCA0-5624-66C5B78A79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48687" y="337685"/>
            <a:ext cx="1184501" cy="35283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081647D-E034-A4CD-CA2A-39B378E310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202" y="6065700"/>
            <a:ext cx="257005" cy="25361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DFDE5B5-FCBF-6070-3CD0-8DC0BFE55D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4918122" y="6103588"/>
            <a:ext cx="177843" cy="1778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97533A-3B15-1959-1873-3B54A985037D}"/>
              </a:ext>
            </a:extLst>
          </p:cNvPr>
          <p:cNvSpPr txBox="1"/>
          <p:nvPr/>
        </p:nvSpPr>
        <p:spPr>
          <a:xfrm>
            <a:off x="549064" y="1692256"/>
            <a:ext cx="55791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Gilroy-Light" panose="00000400000000000000" pitchFamily="2" charset="-52"/>
              </a:rPr>
              <a:t>Остались вопросы? Напишите нам!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839946-6E7E-4FD6-56AA-404DCC96A9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18" y="6065700"/>
            <a:ext cx="257007" cy="257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2CB3B3-3E3D-F30A-8A99-9A9F3470CA89}"/>
              </a:ext>
            </a:extLst>
          </p:cNvPr>
          <p:cNvSpPr txBox="1"/>
          <p:nvPr/>
        </p:nvSpPr>
        <p:spPr>
          <a:xfrm>
            <a:off x="658813" y="3175123"/>
            <a:ext cx="768117" cy="288000"/>
          </a:xfrm>
          <a:prstGeom prst="roundRect">
            <a:avLst>
              <a:gd name="adj" fmla="val 30920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ru-RU" sz="1400" dirty="0"/>
              <a:t>Офис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75BB4-8A61-E837-6611-117797E3D382}"/>
              </a:ext>
            </a:extLst>
          </p:cNvPr>
          <p:cNvSpPr txBox="1"/>
          <p:nvPr/>
        </p:nvSpPr>
        <p:spPr>
          <a:xfrm>
            <a:off x="594169" y="3521881"/>
            <a:ext cx="2364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>
                <a:latin typeface="Gilroy-Light" panose="00000400000000000000" pitchFamily="2" charset="-52"/>
              </a:defRPr>
            </a:lvl1pPr>
          </a:lstStyle>
          <a:p>
            <a:r>
              <a:rPr lang="ru-RU" sz="1200" dirty="0"/>
              <a:t>603141, Нижний Новгород, </a:t>
            </a:r>
            <a:r>
              <a:rPr lang="ru-RU" sz="1200" dirty="0" err="1"/>
              <a:t>п.Черепичный</a:t>
            </a:r>
            <a:r>
              <a:rPr lang="ru-RU" sz="1200" dirty="0"/>
              <a:t>, дом 14 Е, оф.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01C15-8FE4-EE9F-5367-D35F6B1764FA}"/>
              </a:ext>
            </a:extLst>
          </p:cNvPr>
          <p:cNvSpPr txBox="1"/>
          <p:nvPr/>
        </p:nvSpPr>
        <p:spPr>
          <a:xfrm>
            <a:off x="3763558" y="3173261"/>
            <a:ext cx="1154564" cy="288000"/>
          </a:xfrm>
          <a:prstGeom prst="roundRect">
            <a:avLst>
              <a:gd name="adj" fmla="val 30920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ru-RU" sz="1400" dirty="0"/>
              <a:t>Контакты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658A49-074F-A057-B449-5B1F5BC773FD}"/>
              </a:ext>
            </a:extLst>
          </p:cNvPr>
          <p:cNvSpPr txBox="1"/>
          <p:nvPr/>
        </p:nvSpPr>
        <p:spPr>
          <a:xfrm>
            <a:off x="3698915" y="3521881"/>
            <a:ext cx="1263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>
                <a:latin typeface="Gilroy-Light" panose="00000400000000000000" pitchFamily="2" charset="-52"/>
              </a:defRPr>
            </a:lvl1pPr>
          </a:lstStyle>
          <a:p>
            <a:r>
              <a:rPr lang="ru-RU" sz="1200" dirty="0"/>
              <a:t>8 996 982 41 10</a:t>
            </a:r>
          </a:p>
          <a:p>
            <a:r>
              <a:rPr lang="en-US" sz="1200" dirty="0"/>
              <a:t>m3@st-nik.ru</a:t>
            </a:r>
            <a:endParaRPr lang="ru-RU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980883-11AB-B099-8C02-5D5722372161}"/>
              </a:ext>
            </a:extLst>
          </p:cNvPr>
          <p:cNvSpPr txBox="1"/>
          <p:nvPr/>
        </p:nvSpPr>
        <p:spPr>
          <a:xfrm>
            <a:off x="658812" y="4404441"/>
            <a:ext cx="1793178" cy="288000"/>
          </a:xfrm>
          <a:prstGeom prst="roundRect">
            <a:avLst>
              <a:gd name="adj" fmla="val 30920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ru-RU" sz="1400" dirty="0"/>
              <a:t>Отдел снабжения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19A57-544C-FA9F-BBA2-CF429574035B}"/>
              </a:ext>
            </a:extLst>
          </p:cNvPr>
          <p:cNvSpPr txBox="1"/>
          <p:nvPr/>
        </p:nvSpPr>
        <p:spPr>
          <a:xfrm>
            <a:off x="568922" y="4736931"/>
            <a:ext cx="135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>
                <a:latin typeface="Gilroy-Light" panose="00000400000000000000" pitchFamily="2" charset="-52"/>
              </a:defRPr>
            </a:lvl1pPr>
          </a:lstStyle>
          <a:p>
            <a:r>
              <a:rPr lang="en-US" sz="1200" dirty="0"/>
              <a:t>8 996 982 40 86</a:t>
            </a:r>
          </a:p>
          <a:p>
            <a:r>
              <a:rPr lang="en-US" sz="1200" dirty="0"/>
              <a:t>snab@st-nik.ru</a:t>
            </a:r>
            <a:endParaRPr lang="ru-RU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FE6FE-ADB2-1627-3A43-C75C9B9E7841}"/>
              </a:ext>
            </a:extLst>
          </p:cNvPr>
          <p:cNvSpPr txBox="1"/>
          <p:nvPr/>
        </p:nvSpPr>
        <p:spPr>
          <a:xfrm>
            <a:off x="3763558" y="4404441"/>
            <a:ext cx="1522926" cy="288000"/>
          </a:xfrm>
          <a:prstGeom prst="roundRect">
            <a:avLst>
              <a:gd name="adj" fmla="val 30920"/>
            </a:avLst>
          </a:prstGeom>
          <a:solidFill>
            <a:srgbClr val="B7BAC6"/>
          </a:solidFill>
        </p:spPr>
        <p:txBody>
          <a:bodyPr wrap="square" rtlCol="0" anchor="ctr" anchorCtr="0">
            <a:spAutoFit/>
          </a:bodyPr>
          <a:lstStyle>
            <a:defPPr>
              <a:defRPr lang="ru-RU"/>
            </a:defPPr>
            <a:lvl1pPr>
              <a:defRPr>
                <a:solidFill>
                  <a:schemeClr val="bg1"/>
                </a:solidFill>
                <a:latin typeface="Gilroy-Light" panose="00000400000000000000" pitchFamily="2" charset="-52"/>
              </a:defRPr>
            </a:lvl1pPr>
          </a:lstStyle>
          <a:p>
            <a:pPr algn="ctr"/>
            <a:r>
              <a:rPr lang="ru-RU" sz="1400" dirty="0"/>
              <a:t>Отдел кадров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8AA9DD-22DB-2A64-FC90-19D9344C1CA5}"/>
              </a:ext>
            </a:extLst>
          </p:cNvPr>
          <p:cNvSpPr txBox="1"/>
          <p:nvPr/>
        </p:nvSpPr>
        <p:spPr>
          <a:xfrm>
            <a:off x="3704624" y="4736931"/>
            <a:ext cx="135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>
                <a:latin typeface="Gilroy-Light" panose="00000400000000000000" pitchFamily="2" charset="-52"/>
              </a:defRPr>
            </a:lvl1pPr>
          </a:lstStyle>
          <a:p>
            <a:r>
              <a:rPr lang="en-US" sz="1200" dirty="0"/>
              <a:t>8 996 982 41 10</a:t>
            </a:r>
          </a:p>
          <a:p>
            <a:r>
              <a:rPr lang="en-US" sz="1200" dirty="0"/>
              <a:t>info@st-nik.ru</a:t>
            </a:r>
            <a:endParaRPr lang="ru-RU" sz="12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87D3760-2B07-29BA-E4B2-E69B1FA89A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3" y="6105030"/>
            <a:ext cx="176400" cy="176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E77117-6441-2769-0576-B8407909C20C}"/>
              </a:ext>
            </a:extLst>
          </p:cNvPr>
          <p:cNvSpPr txBox="1"/>
          <p:nvPr/>
        </p:nvSpPr>
        <p:spPr>
          <a:xfrm>
            <a:off x="587828" y="430317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Чехол </a:t>
            </a:r>
            <a:r>
              <a:rPr lang="en-US" sz="1000" dirty="0">
                <a:latin typeface="Gilroy-Light" panose="00000400000000000000" pitchFamily="2" charset="-52"/>
              </a:rPr>
              <a:t>Aloe Vera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572D6-2DCD-C05D-41C0-B6FDCE43C11F}"/>
              </a:ext>
            </a:extLst>
          </p:cNvPr>
          <p:cNvSpPr txBox="1"/>
          <p:nvPr/>
        </p:nvSpPr>
        <p:spPr>
          <a:xfrm>
            <a:off x="1877338" y="43031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Soft foam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855D5-F482-9686-361F-F71B3F090159}"/>
              </a:ext>
            </a:extLst>
          </p:cNvPr>
          <p:cNvSpPr txBox="1"/>
          <p:nvPr/>
        </p:nvSpPr>
        <p:spPr>
          <a:xfrm>
            <a:off x="2778921" y="430317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roy-Light" panose="00000400000000000000" pitchFamily="2" charset="-52"/>
              </a:rPr>
              <a:t>Orto foam </a:t>
            </a:r>
            <a:endParaRPr lang="ru-RU" sz="1000" dirty="0">
              <a:latin typeface="Gilroy-Light" panose="00000400000000000000" pitchFamily="2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39EA94-6ABB-F42C-BFA6-FFC1D9BC262E}"/>
              </a:ext>
            </a:extLst>
          </p:cNvPr>
          <p:cNvSpPr txBox="1"/>
          <p:nvPr/>
        </p:nvSpPr>
        <p:spPr>
          <a:xfrm>
            <a:off x="3744624" y="430317"/>
            <a:ext cx="13933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latin typeface="Gilroy-Light" panose="00000400000000000000" pitchFamily="2" charset="-52"/>
              </a:rPr>
              <a:t>Натуральный кокос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D92F5-A9B0-7B82-D9D3-8FDFDE1FF877}"/>
              </a:ext>
            </a:extLst>
          </p:cNvPr>
          <p:cNvSpPr txBox="1"/>
          <p:nvPr/>
        </p:nvSpPr>
        <p:spPr>
          <a:xfrm>
            <a:off x="5268172" y="430317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roy-Light" panose="00000400000000000000" pitchFamily="2" charset="-52"/>
              </a:rPr>
              <a:t>Airotek</a:t>
            </a:r>
            <a:endParaRPr lang="ru-RU" sz="1000" dirty="0">
              <a:latin typeface="Gilroy-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942699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283</Words>
  <Application>Microsoft Office PowerPoint</Application>
  <PresentationFormat>Широкоэкранный</PresentationFormat>
  <Paragraphs>77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Gilroy-Light</vt:lpstr>
      <vt:lpstr>Calibri Light</vt:lpstr>
      <vt:lpstr>Arial</vt:lpstr>
      <vt:lpstr>Gilroy-Bold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Анастасия Ахрамович</dc:creator>
  <cp:lastModifiedBy>Анастасия Ахрамович</cp:lastModifiedBy>
  <cp:revision>5</cp:revision>
  <dcterms:created xsi:type="dcterms:W3CDTF">2025-02-27T12:00:47Z</dcterms:created>
  <dcterms:modified xsi:type="dcterms:W3CDTF">2025-03-28T16:08:03Z</dcterms:modified>
</cp:coreProperties>
</file>